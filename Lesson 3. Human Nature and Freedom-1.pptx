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6" r:id="rId5"/>
    <p:sldId id="258"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7" r:id="rId19"/>
    <p:sldId id="306" r:id="rId20"/>
    <p:sldId id="308" r:id="rId21"/>
    <p:sldId id="309" r:id="rId22"/>
    <p:sldId id="310" r:id="rId23"/>
  </p:sldIdLst>
  <p:sldSz cx="12192000" cy="6858000"/>
  <p:notesSz cx="6954838"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19AF2B-B6E4-6D6E-8539-F4120C866DD1}" v="2" dt="2026-10-01T01:35:05.542"/>
    <p1510:client id="{4172BCCB-893E-58EF-4078-DA6061272D0A}" v="4" dt="2026-10-01T01:39:37.6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ekiel Lalatag" userId="S::ezekiel.lalatag@tup.edu.ph::4cf0e670-d506-4811-9028-4d1bcb876c41" providerId="AD" clId="Web-{4172BCCB-893E-58EF-4078-DA6061272D0A}"/>
    <pc:docChg chg="modSld">
      <pc:chgData name="Ezekiel Lalatag" userId="S::ezekiel.lalatag@tup.edu.ph::4cf0e670-d506-4811-9028-4d1bcb876c41" providerId="AD" clId="Web-{4172BCCB-893E-58EF-4078-DA6061272D0A}" dt="2026-10-01T01:39:37.646" v="3"/>
      <pc:docMkLst>
        <pc:docMk/>
      </pc:docMkLst>
      <pc:sldChg chg="mod modShow">
        <pc:chgData name="Ezekiel Lalatag" userId="S::ezekiel.lalatag@tup.edu.ph::4cf0e670-d506-4811-9028-4d1bcb876c41" providerId="AD" clId="Web-{4172BCCB-893E-58EF-4078-DA6061272D0A}" dt="2026-10-01T01:39:37.646" v="3"/>
        <pc:sldMkLst>
          <pc:docMk/>
          <pc:sldMk cId="2158512472" sldId="256"/>
        </pc:sldMkLst>
      </pc:sldChg>
    </pc:docChg>
  </pc:docChgLst>
  <pc:docChgLst>
    <pc:chgData name="Gg Ardiente" userId="S::gg.ardiente@tup.edu.ph::5564b7ba-7358-4269-ad7d-647d45b0708d" providerId="AD" clId="Web-{0E19AF2B-B6E4-6D6E-8539-F4120C866DD1}"/>
    <pc:docChg chg="modSld">
      <pc:chgData name="Gg Ardiente" userId="S::gg.ardiente@tup.edu.ph::5564b7ba-7358-4269-ad7d-647d45b0708d" providerId="AD" clId="Web-{0E19AF2B-B6E4-6D6E-8539-F4120C866DD1}" dt="2026-10-01T01:35:05.542" v="1" actId="1076"/>
      <pc:docMkLst>
        <pc:docMk/>
      </pc:docMkLst>
      <pc:sldChg chg="modSp">
        <pc:chgData name="Gg Ardiente" userId="S::gg.ardiente@tup.edu.ph::5564b7ba-7358-4269-ad7d-647d45b0708d" providerId="AD" clId="Web-{0E19AF2B-B6E4-6D6E-8539-F4120C866DD1}" dt="2026-10-01T01:35:05.542" v="1" actId="1076"/>
        <pc:sldMkLst>
          <pc:docMk/>
          <pc:sldMk cId="2331694540" sldId="309"/>
        </pc:sldMkLst>
        <pc:graphicFrameChg chg="mod">
          <ac:chgData name="Gg Ardiente" userId="S::gg.ardiente@tup.edu.ph::5564b7ba-7358-4269-ad7d-647d45b0708d" providerId="AD" clId="Web-{0E19AF2B-B6E4-6D6E-8539-F4120C866DD1}" dt="2026-10-01T01:35:05.542" v="1" actId="1076"/>
          <ac:graphicFrameMkLst>
            <pc:docMk/>
            <pc:sldMk cId="2331694540" sldId="309"/>
            <ac:graphicFrameMk id="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CCCD5154-55A3-4EE0-B822-01B9D4929B54}" type="datetimeFigureOut">
              <a:rPr lang="en-US" smtClean="0"/>
              <a:t>9/30/2026</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4053C43D-6AFB-46FC-A484-CE35C7EEFDAB}" type="slidenum">
              <a:rPr lang="en-US" smtClean="0"/>
              <a:t>‹#›</a:t>
            </a:fld>
            <a:endParaRPr lang="en-US"/>
          </a:p>
        </p:txBody>
      </p:sp>
    </p:spTree>
    <p:extLst>
      <p:ext uri="{BB962C8B-B14F-4D97-AF65-F5344CB8AC3E}">
        <p14:creationId xmlns:p14="http://schemas.microsoft.com/office/powerpoint/2010/main" val="315560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short, man is a being altogether</a:t>
            </a:r>
            <a:r>
              <a:rPr lang="en-US" baseline="0"/>
              <a:t> unique as compared with the rest of the physical universe, because in knowing and judging, he rises above the inexorable laws of matter.</a:t>
            </a:r>
            <a:endParaRPr lang="en-US"/>
          </a:p>
        </p:txBody>
      </p:sp>
      <p:sp>
        <p:nvSpPr>
          <p:cNvPr id="4" name="Slide Number Placeholder 3"/>
          <p:cNvSpPr>
            <a:spLocks noGrp="1"/>
          </p:cNvSpPr>
          <p:nvPr>
            <p:ph type="sldNum" sz="quarter" idx="10"/>
          </p:nvPr>
        </p:nvSpPr>
        <p:spPr/>
        <p:txBody>
          <a:bodyPr/>
          <a:lstStyle/>
          <a:p>
            <a:fld id="{4053C43D-6AFB-46FC-A484-CE35C7EEFDAB}" type="slidenum">
              <a:rPr lang="en-US" smtClean="0"/>
              <a:t>2</a:t>
            </a:fld>
            <a:endParaRPr lang="en-US"/>
          </a:p>
        </p:txBody>
      </p:sp>
    </p:spTree>
    <p:extLst>
      <p:ext uri="{BB962C8B-B14F-4D97-AF65-F5344CB8AC3E}">
        <p14:creationId xmlns:p14="http://schemas.microsoft.com/office/powerpoint/2010/main" val="3603104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Man is part of the animal kingdom.</a:t>
            </a:r>
          </a:p>
          <a:p>
            <a:pPr marL="171450" indent="-171450">
              <a:buFont typeface="Arial" panose="020B0604020202020204" pitchFamily="34" charset="0"/>
              <a:buChar char="•"/>
            </a:pPr>
            <a:r>
              <a:rPr lang="en-US"/>
              <a:t>Laws of physical</a:t>
            </a:r>
            <a:r>
              <a:rPr lang="en-US" baseline="0"/>
              <a:t> nature – if man put his hand in fire, his hand will burn. If he goes out in the rain, he will get wet. If he doesn’t breathe or eat, he will die.</a:t>
            </a:r>
          </a:p>
          <a:p>
            <a:pPr marL="171450" indent="-171450">
              <a:buFont typeface="Arial" panose="020B0604020202020204" pitchFamily="34" charset="0"/>
              <a:buChar char="•"/>
            </a:pPr>
            <a:r>
              <a:rPr lang="en-US"/>
              <a:t>The systematic study</a:t>
            </a:r>
            <a:r>
              <a:rPr lang="en-US" baseline="0"/>
              <a:t> of philosophy usually start with the problem of man himself and his destiny, then later proceed with the world in which man finds himself. </a:t>
            </a:r>
            <a:endParaRPr lang="en-US"/>
          </a:p>
        </p:txBody>
      </p:sp>
      <p:sp>
        <p:nvSpPr>
          <p:cNvPr id="4" name="Slide Number Placeholder 3"/>
          <p:cNvSpPr>
            <a:spLocks noGrp="1"/>
          </p:cNvSpPr>
          <p:nvPr>
            <p:ph type="sldNum" sz="quarter" idx="10"/>
          </p:nvPr>
        </p:nvSpPr>
        <p:spPr/>
        <p:txBody>
          <a:bodyPr/>
          <a:lstStyle/>
          <a:p>
            <a:fld id="{4053C43D-6AFB-46FC-A484-CE35C7EEFDAB}" type="slidenum">
              <a:rPr lang="en-US" smtClean="0"/>
              <a:t>3</a:t>
            </a:fld>
            <a:endParaRPr lang="en-US"/>
          </a:p>
        </p:txBody>
      </p:sp>
    </p:spTree>
    <p:extLst>
      <p:ext uri="{BB962C8B-B14F-4D97-AF65-F5344CB8AC3E}">
        <p14:creationId xmlns:p14="http://schemas.microsoft.com/office/powerpoint/2010/main" val="109349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 Man is sometimes interested in understanding how things are related to his sense perception, interests, viewpoints, and needs. He is also interested in how things are related to one another, apart from their relation to him.</a:t>
            </a:r>
          </a:p>
          <a:p>
            <a:r>
              <a:rPr lang="en-US"/>
              <a:t>** </a:t>
            </a:r>
            <a:r>
              <a:rPr lang="en-US" u="sng"/>
              <a:t>unstructured</a:t>
            </a:r>
            <a:r>
              <a:rPr lang="en-US" baseline="0"/>
              <a:t> – man can use a variety of procedures or methods of inquiry</a:t>
            </a:r>
          </a:p>
          <a:p>
            <a:r>
              <a:rPr lang="en-US" baseline="0"/>
              <a:t>    </a:t>
            </a:r>
            <a:r>
              <a:rPr lang="en-US" u="sng" baseline="0"/>
              <a:t>unlimited</a:t>
            </a:r>
            <a:r>
              <a:rPr lang="en-US" u="none" baseline="0"/>
              <a:t> – man cannot be stopped from knowing and understanding the things around him and sometimes he goes beyond his senses and tries to push his limits</a:t>
            </a:r>
          </a:p>
          <a:p>
            <a:r>
              <a:rPr lang="en-US" u="none" baseline="0"/>
              <a:t>    </a:t>
            </a:r>
            <a:r>
              <a:rPr lang="en-US" u="sng" baseline="0"/>
              <a:t>objective</a:t>
            </a:r>
            <a:r>
              <a:rPr lang="en-US" u="none" baseline="0"/>
              <a:t> – its goal is the real and not the imagined. </a:t>
            </a:r>
            <a:endParaRPr lang="en-US" u="sng"/>
          </a:p>
        </p:txBody>
      </p:sp>
      <p:sp>
        <p:nvSpPr>
          <p:cNvPr id="4" name="Slide Number Placeholder 3"/>
          <p:cNvSpPr>
            <a:spLocks noGrp="1"/>
          </p:cNvSpPr>
          <p:nvPr>
            <p:ph type="sldNum" sz="quarter" idx="10"/>
          </p:nvPr>
        </p:nvSpPr>
        <p:spPr/>
        <p:txBody>
          <a:bodyPr/>
          <a:lstStyle/>
          <a:p>
            <a:fld id="{4053C43D-6AFB-46FC-A484-CE35C7EEFDAB}" type="slidenum">
              <a:rPr lang="en-US" smtClean="0"/>
              <a:t>8</a:t>
            </a:fld>
            <a:endParaRPr lang="en-US"/>
          </a:p>
        </p:txBody>
      </p:sp>
    </p:spTree>
    <p:extLst>
      <p:ext uri="{BB962C8B-B14F-4D97-AF65-F5344CB8AC3E}">
        <p14:creationId xmlns:p14="http://schemas.microsoft.com/office/powerpoint/2010/main" val="2023765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sng"/>
          </a:p>
        </p:txBody>
      </p:sp>
      <p:sp>
        <p:nvSpPr>
          <p:cNvPr id="4" name="Slide Number Placeholder 3"/>
          <p:cNvSpPr>
            <a:spLocks noGrp="1"/>
          </p:cNvSpPr>
          <p:nvPr>
            <p:ph type="sldNum" sz="quarter" idx="10"/>
          </p:nvPr>
        </p:nvSpPr>
        <p:spPr/>
        <p:txBody>
          <a:bodyPr/>
          <a:lstStyle/>
          <a:p>
            <a:fld id="{4053C43D-6AFB-46FC-A484-CE35C7EEFDAB}" type="slidenum">
              <a:rPr lang="en-US" smtClean="0"/>
              <a:t>10</a:t>
            </a:fld>
            <a:endParaRPr lang="en-US"/>
          </a:p>
        </p:txBody>
      </p:sp>
    </p:spTree>
    <p:extLst>
      <p:ext uri="{BB962C8B-B14F-4D97-AF65-F5344CB8AC3E}">
        <p14:creationId xmlns:p14="http://schemas.microsoft.com/office/powerpoint/2010/main" val="592102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sng"/>
          </a:p>
        </p:txBody>
      </p:sp>
      <p:sp>
        <p:nvSpPr>
          <p:cNvPr id="4" name="Slide Number Placeholder 3"/>
          <p:cNvSpPr>
            <a:spLocks noGrp="1"/>
          </p:cNvSpPr>
          <p:nvPr>
            <p:ph type="sldNum" sz="quarter" idx="10"/>
          </p:nvPr>
        </p:nvSpPr>
        <p:spPr/>
        <p:txBody>
          <a:bodyPr/>
          <a:lstStyle/>
          <a:p>
            <a:fld id="{4053C43D-6AFB-46FC-A484-CE35C7EEFDAB}" type="slidenum">
              <a:rPr lang="en-US" smtClean="0"/>
              <a:t>11</a:t>
            </a:fld>
            <a:endParaRPr lang="en-US"/>
          </a:p>
        </p:txBody>
      </p:sp>
    </p:spTree>
    <p:extLst>
      <p:ext uri="{BB962C8B-B14F-4D97-AF65-F5344CB8AC3E}">
        <p14:creationId xmlns:p14="http://schemas.microsoft.com/office/powerpoint/2010/main" val="816444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lvl1pPr algn="l">
              <a:defRPr/>
            </a:lvl1pPr>
          </a:lstStyle>
          <a:p>
            <a:fld id="{38C141E7-04FF-47F3-A3BA-3E996A74A22D}"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A5DE4-1A23-437D-871C-3735B921409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880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C141E7-04FF-47F3-A3BA-3E996A74A22D}"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A5DE4-1A23-437D-871C-3735B9214095}" type="slidenum">
              <a:rPr lang="en-US" smtClean="0"/>
              <a:t>‹#›</a:t>
            </a:fld>
            <a:endParaRPr lang="en-US"/>
          </a:p>
        </p:txBody>
      </p:sp>
    </p:spTree>
    <p:extLst>
      <p:ext uri="{BB962C8B-B14F-4D97-AF65-F5344CB8AC3E}">
        <p14:creationId xmlns:p14="http://schemas.microsoft.com/office/powerpoint/2010/main" val="353551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141E7-04FF-47F3-A3BA-3E996A74A22D}"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A5DE4-1A23-437D-871C-3735B921409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134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C141E7-04FF-47F3-A3BA-3E996A74A22D}"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FA5DE4-1A23-437D-871C-3735B9214095}" type="slidenum">
              <a:rPr lang="en-US" smtClean="0"/>
              <a:t>‹#›</a:t>
            </a:fld>
            <a:endParaRPr lang="en-US"/>
          </a:p>
        </p:txBody>
      </p:sp>
    </p:spTree>
    <p:extLst>
      <p:ext uri="{BB962C8B-B14F-4D97-AF65-F5344CB8AC3E}">
        <p14:creationId xmlns:p14="http://schemas.microsoft.com/office/powerpoint/2010/main" val="1817056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C141E7-04FF-47F3-A3BA-3E996A74A22D}"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FA5DE4-1A23-437D-871C-3735B9214095}" type="slidenum">
              <a:rPr lang="en-US" smtClean="0"/>
              <a:t>‹#›</a:t>
            </a:fld>
            <a:endParaRPr lang="en-US"/>
          </a:p>
        </p:txBody>
      </p:sp>
    </p:spTree>
    <p:extLst>
      <p:ext uri="{BB962C8B-B14F-4D97-AF65-F5344CB8AC3E}">
        <p14:creationId xmlns:p14="http://schemas.microsoft.com/office/powerpoint/2010/main" val="340869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C141E7-04FF-47F3-A3BA-3E996A74A22D}"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FA5DE4-1A23-437D-871C-3735B9214095}" type="slidenum">
              <a:rPr lang="en-US" smtClean="0"/>
              <a:t>‹#›</a:t>
            </a:fld>
            <a:endParaRPr lang="en-US"/>
          </a:p>
        </p:txBody>
      </p:sp>
    </p:spTree>
    <p:extLst>
      <p:ext uri="{BB962C8B-B14F-4D97-AF65-F5344CB8AC3E}">
        <p14:creationId xmlns:p14="http://schemas.microsoft.com/office/powerpoint/2010/main" val="4231617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C141E7-04FF-47F3-A3BA-3E996A74A22D}"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FA5DE4-1A23-437D-871C-3735B9214095}" type="slidenum">
              <a:rPr lang="en-US" smtClean="0"/>
              <a:t>‹#›</a:t>
            </a:fld>
            <a:endParaRPr lang="en-US"/>
          </a:p>
        </p:txBody>
      </p:sp>
    </p:spTree>
    <p:extLst>
      <p:ext uri="{BB962C8B-B14F-4D97-AF65-F5344CB8AC3E}">
        <p14:creationId xmlns:p14="http://schemas.microsoft.com/office/powerpoint/2010/main" val="541183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C141E7-04FF-47F3-A3BA-3E996A74A22D}"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FA5DE4-1A23-437D-871C-3735B9214095}" type="slidenum">
              <a:rPr lang="en-US" smtClean="0"/>
              <a:t>‹#›</a:t>
            </a:fld>
            <a:endParaRPr lang="en-US"/>
          </a:p>
        </p:txBody>
      </p:sp>
    </p:spTree>
    <p:extLst>
      <p:ext uri="{BB962C8B-B14F-4D97-AF65-F5344CB8AC3E}">
        <p14:creationId xmlns:p14="http://schemas.microsoft.com/office/powerpoint/2010/main" val="415706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C141E7-04FF-47F3-A3BA-3E996A74A22D}"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FA5DE4-1A23-437D-871C-3735B921409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339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C141E7-04FF-47F3-A3BA-3E996A74A22D}"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A5DE4-1A23-437D-871C-3735B9214095}" type="slidenum">
              <a:rPr lang="en-US" smtClean="0"/>
              <a:t>‹#›</a:t>
            </a:fld>
            <a:endParaRPr lang="en-US"/>
          </a:p>
        </p:txBody>
      </p:sp>
    </p:spTree>
    <p:extLst>
      <p:ext uri="{BB962C8B-B14F-4D97-AF65-F5344CB8AC3E}">
        <p14:creationId xmlns:p14="http://schemas.microsoft.com/office/powerpoint/2010/main" val="203815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C141E7-04FF-47F3-A3BA-3E996A74A22D}"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A5DE4-1A23-437D-871C-3735B9214095}"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662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8C141E7-04FF-47F3-A3BA-3E996A74A22D}" type="datetimeFigureOut">
              <a:rPr lang="en-US" smtClean="0"/>
              <a:t>9/30/2026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EFA5DE4-1A23-437D-871C-3735B9214095}"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8706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13224" y="1920240"/>
            <a:ext cx="6353967" cy="1386132"/>
          </a:xfrm>
        </p:spPr>
        <p:txBody>
          <a:bodyPr anchor="b">
            <a:normAutofit/>
          </a:bodyPr>
          <a:lstStyle/>
          <a:p>
            <a:pPr algn="l"/>
            <a:r>
              <a:rPr lang="en-US" sz="4400" b="1">
                <a:solidFill>
                  <a:srgbClr val="FFFFFF"/>
                </a:solidFill>
              </a:rPr>
              <a:t>The meaning of human nature</a:t>
            </a:r>
          </a:p>
        </p:txBody>
      </p:sp>
      <p:sp>
        <p:nvSpPr>
          <p:cNvPr id="3" name="Subtitle 2"/>
          <p:cNvSpPr>
            <a:spLocks noGrp="1"/>
          </p:cNvSpPr>
          <p:nvPr>
            <p:ph type="subTitle" idx="1"/>
          </p:nvPr>
        </p:nvSpPr>
        <p:spPr>
          <a:xfrm>
            <a:off x="4713224" y="3215516"/>
            <a:ext cx="5756656" cy="1433391"/>
          </a:xfrm>
        </p:spPr>
        <p:txBody>
          <a:bodyPr anchor="t">
            <a:noAutofit/>
          </a:bodyPr>
          <a:lstStyle/>
          <a:p>
            <a:r>
              <a:rPr lang="en-US" sz="2400" b="1"/>
              <a:t>Why only human beings can be ethical?</a:t>
            </a:r>
            <a:endParaRPr lang="en-US" sz="2400" b="1">
              <a:solidFill>
                <a:srgbClr val="FFFFFF"/>
              </a:solidFill>
            </a:endParaRPr>
          </a:p>
          <a:p>
            <a:endParaRPr lang="en-US" sz="3600" b="1">
              <a:solidFill>
                <a:srgbClr val="FFFFFF"/>
              </a:solidFill>
            </a:endParaRPr>
          </a:p>
          <a:p>
            <a:r>
              <a:rPr lang="en-US" sz="2400" b="1">
                <a:solidFill>
                  <a:srgbClr val="FFFFFF"/>
                </a:solidFill>
              </a:rPr>
              <a:t>Prepared by: Eduardo S. </a:t>
            </a:r>
            <a:r>
              <a:rPr lang="en-US" sz="2400" b="1" err="1">
                <a:solidFill>
                  <a:srgbClr val="FFFFFF"/>
                </a:solidFill>
              </a:rPr>
              <a:t>Sucob</a:t>
            </a:r>
            <a:r>
              <a:rPr lang="en-US" sz="2400" b="1">
                <a:solidFill>
                  <a:srgbClr val="FFFFFF"/>
                </a:solidFill>
              </a:rPr>
              <a:t>, Jr.</a:t>
            </a: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851247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normAutofit/>
          </a:bodyPr>
          <a:lstStyle/>
          <a:p>
            <a:r>
              <a:rPr lang="en-US" sz="6000" u="sng"/>
              <a:t>The Meaning of Human Nature</a:t>
            </a:r>
          </a:p>
        </p:txBody>
      </p:sp>
      <p:sp>
        <p:nvSpPr>
          <p:cNvPr id="3" name="Content Placeholder 2"/>
          <p:cNvSpPr>
            <a:spLocks noGrp="1"/>
          </p:cNvSpPr>
          <p:nvPr>
            <p:ph idx="1"/>
          </p:nvPr>
        </p:nvSpPr>
        <p:spPr>
          <a:xfrm>
            <a:off x="1392071" y="2019868"/>
            <a:ext cx="9130353" cy="4457132"/>
          </a:xfrm>
        </p:spPr>
        <p:txBody>
          <a:bodyPr>
            <a:normAutofit fontScale="92500" lnSpcReduction="10000"/>
          </a:bodyPr>
          <a:lstStyle/>
          <a:p>
            <a:pPr marL="457200" indent="-457200">
              <a:buFont typeface="Wingdings" panose="05000000000000000000" pitchFamily="2" charset="2"/>
              <a:buChar char="Ø"/>
            </a:pPr>
            <a:r>
              <a:rPr lang="en-US" sz="3500"/>
              <a:t>Man is different from the rest of the animals in that he possesses the distinctive powers of </a:t>
            </a:r>
            <a:r>
              <a:rPr lang="en-US" sz="3500" b="1"/>
              <a:t>reason </a:t>
            </a:r>
            <a:r>
              <a:rPr lang="en-US" sz="3500"/>
              <a:t>and</a:t>
            </a:r>
            <a:r>
              <a:rPr lang="en-US" sz="3500" b="1"/>
              <a:t> free will</a:t>
            </a:r>
            <a:r>
              <a:rPr lang="en-US" sz="3500"/>
              <a:t>.</a:t>
            </a:r>
          </a:p>
          <a:p>
            <a:pPr marL="457200" indent="-457200">
              <a:buFont typeface="Wingdings" panose="05000000000000000000" pitchFamily="2" charset="2"/>
              <a:buChar char="Ø"/>
            </a:pPr>
            <a:r>
              <a:rPr lang="en-US" sz="3500"/>
              <a:t>Man can see the sameness in difference, the oneness in many, the enduring reality behind outward change.</a:t>
            </a:r>
          </a:p>
          <a:p>
            <a:pPr marL="457200" indent="-457200">
              <a:buFont typeface="Wingdings" panose="05000000000000000000" pitchFamily="2" charset="2"/>
              <a:buChar char="Ø"/>
            </a:pPr>
            <a:r>
              <a:rPr lang="en-US" sz="3500"/>
              <a:t>He knows meaning, law and purpose, and, through his power of free choice, he can choose between the various alternatives which are presented to him by his intellect.</a:t>
            </a:r>
          </a:p>
        </p:txBody>
      </p:sp>
    </p:spTree>
    <p:extLst>
      <p:ext uri="{BB962C8B-B14F-4D97-AF65-F5344CB8AC3E}">
        <p14:creationId xmlns:p14="http://schemas.microsoft.com/office/powerpoint/2010/main" val="3202835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normAutofit/>
          </a:bodyPr>
          <a:lstStyle/>
          <a:p>
            <a:r>
              <a:rPr lang="en-US" sz="6000" u="sng"/>
              <a:t>The Meaning of Human Nature</a:t>
            </a:r>
          </a:p>
        </p:txBody>
      </p:sp>
      <p:sp>
        <p:nvSpPr>
          <p:cNvPr id="3" name="Content Placeholder 2"/>
          <p:cNvSpPr>
            <a:spLocks noGrp="1"/>
          </p:cNvSpPr>
          <p:nvPr>
            <p:ph idx="1"/>
          </p:nvPr>
        </p:nvSpPr>
        <p:spPr>
          <a:xfrm>
            <a:off x="1392071" y="2019868"/>
            <a:ext cx="9130353" cy="4457132"/>
          </a:xfrm>
        </p:spPr>
        <p:txBody>
          <a:bodyPr>
            <a:normAutofit/>
          </a:bodyPr>
          <a:lstStyle/>
          <a:p>
            <a:pPr marL="457200" indent="-457200">
              <a:buFont typeface="Wingdings" panose="05000000000000000000" pitchFamily="2" charset="2"/>
              <a:buChar char="Ø"/>
            </a:pPr>
            <a:r>
              <a:rPr lang="en-US" sz="3500"/>
              <a:t>Some philosophers and scientists insist on the strength and importance of man’s instincts and senses; and assert that man is deeply immersed within the forces of the physical universe.</a:t>
            </a:r>
          </a:p>
          <a:p>
            <a:pPr marL="457200" indent="-457200">
              <a:buFont typeface="Wingdings" panose="05000000000000000000" pitchFamily="2" charset="2"/>
              <a:buChar char="Ø"/>
            </a:pPr>
            <a:r>
              <a:rPr lang="en-US" sz="3500"/>
              <a:t>Man is a </a:t>
            </a:r>
            <a:r>
              <a:rPr lang="en-US" sz="3500" b="1"/>
              <a:t>material being, </a:t>
            </a:r>
            <a:r>
              <a:rPr lang="en-US" sz="3500"/>
              <a:t>he is obedient to the laws of physical nature.</a:t>
            </a:r>
          </a:p>
          <a:p>
            <a:pPr marL="457200" indent="-457200">
              <a:buFont typeface="Wingdings" panose="05000000000000000000" pitchFamily="2" charset="2"/>
              <a:buChar char="Ø"/>
            </a:pPr>
            <a:r>
              <a:rPr lang="en-US" sz="3500"/>
              <a:t>Man may be perceived as a material being or a being of with free will and intellect.</a:t>
            </a:r>
          </a:p>
        </p:txBody>
      </p:sp>
    </p:spTree>
    <p:extLst>
      <p:ext uri="{BB962C8B-B14F-4D97-AF65-F5344CB8AC3E}">
        <p14:creationId xmlns:p14="http://schemas.microsoft.com/office/powerpoint/2010/main" val="3554307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 Experiences of the Human person</a:t>
            </a:r>
          </a:p>
        </p:txBody>
      </p:sp>
      <p:sp>
        <p:nvSpPr>
          <p:cNvPr id="3" name="Content Placeholder 2"/>
          <p:cNvSpPr>
            <a:spLocks noGrp="1"/>
          </p:cNvSpPr>
          <p:nvPr>
            <p:ph idx="1"/>
          </p:nvPr>
        </p:nvSpPr>
        <p:spPr>
          <a:xfrm>
            <a:off x="1024128" y="2286000"/>
            <a:ext cx="10283952" cy="4023360"/>
          </a:xfrm>
        </p:spPr>
        <p:txBody>
          <a:bodyPr>
            <a:noAutofit/>
          </a:bodyPr>
          <a:lstStyle/>
          <a:p>
            <a:r>
              <a:rPr lang="en-US" sz="3500"/>
              <a:t>According to </a:t>
            </a:r>
            <a:r>
              <a:rPr lang="en-US" sz="3500" b="1"/>
              <a:t>Michael Novak, </a:t>
            </a:r>
            <a:r>
              <a:rPr lang="en-US" sz="3500"/>
              <a:t>there are four experiences of the human person that seem especially important in the quest for one’s own identity. These are the experiences of the activities of </a:t>
            </a:r>
            <a:r>
              <a:rPr lang="en-US" sz="3500" b="1"/>
              <a:t>awareness, insight, reflective judgment, </a:t>
            </a:r>
            <a:r>
              <a:rPr lang="en-US" sz="3500"/>
              <a:t>and </a:t>
            </a:r>
            <a:r>
              <a:rPr lang="en-US" sz="3500" b="1"/>
              <a:t>the drive to understand.</a:t>
            </a:r>
            <a:r>
              <a:rPr lang="en-US" sz="3500"/>
              <a:t> When man experiences these activities in his life and reflects on them, a man begins to understand how he is different from objects in the world.</a:t>
            </a:r>
          </a:p>
        </p:txBody>
      </p:sp>
    </p:spTree>
    <p:extLst>
      <p:ext uri="{BB962C8B-B14F-4D97-AF65-F5344CB8AC3E}">
        <p14:creationId xmlns:p14="http://schemas.microsoft.com/office/powerpoint/2010/main" val="2308860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 Experiences of the Human person</a:t>
            </a:r>
          </a:p>
        </p:txBody>
      </p:sp>
      <p:sp>
        <p:nvSpPr>
          <p:cNvPr id="3" name="Content Placeholder 2"/>
          <p:cNvSpPr>
            <a:spLocks noGrp="1"/>
          </p:cNvSpPr>
          <p:nvPr>
            <p:ph idx="1"/>
          </p:nvPr>
        </p:nvSpPr>
        <p:spPr>
          <a:xfrm>
            <a:off x="1024128" y="2286000"/>
            <a:ext cx="10283952" cy="4023360"/>
          </a:xfrm>
        </p:spPr>
        <p:txBody>
          <a:bodyPr>
            <a:noAutofit/>
          </a:bodyPr>
          <a:lstStyle/>
          <a:p>
            <a:r>
              <a:rPr lang="en-US" sz="3500" b="1"/>
              <a:t>1. Awareness</a:t>
            </a:r>
            <a:r>
              <a:rPr lang="en-US" sz="3500"/>
              <a:t> – serves as the basic ground from which understanding appears to start. It is necessary for a human being to be conscious as an individual before he could dwell on questions and explore on answers. It is through one’s awareness that man is able to see through or reflect and to search for the meaning of his experiences and his life.</a:t>
            </a:r>
          </a:p>
        </p:txBody>
      </p:sp>
    </p:spTree>
    <p:extLst>
      <p:ext uri="{BB962C8B-B14F-4D97-AF65-F5344CB8AC3E}">
        <p14:creationId xmlns:p14="http://schemas.microsoft.com/office/powerpoint/2010/main" val="3235248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 Experiences of the Human person</a:t>
            </a:r>
          </a:p>
        </p:txBody>
      </p:sp>
      <p:sp>
        <p:nvSpPr>
          <p:cNvPr id="3" name="Content Placeholder 2"/>
          <p:cNvSpPr>
            <a:spLocks noGrp="1"/>
          </p:cNvSpPr>
          <p:nvPr>
            <p:ph idx="1"/>
          </p:nvPr>
        </p:nvSpPr>
        <p:spPr>
          <a:xfrm>
            <a:off x="1024128" y="2286000"/>
            <a:ext cx="10283952" cy="4023360"/>
          </a:xfrm>
        </p:spPr>
        <p:txBody>
          <a:bodyPr>
            <a:noAutofit/>
          </a:bodyPr>
          <a:lstStyle/>
          <a:p>
            <a:r>
              <a:rPr lang="en-US" sz="3500" b="1"/>
              <a:t>2. Insight</a:t>
            </a:r>
            <a:r>
              <a:rPr lang="en-US" sz="3500"/>
              <a:t> – upon understanding of man and by his intelligence, he may find an emerging response to a certain stimulus; he sees the solution to his problem, discovers a way of relating the puzzling clues, finds the correct word for his crossword puzzle, gets the point of a joke. Insight is required for many tasks; plays many roles. It is often wordless and non-conceptual.</a:t>
            </a:r>
          </a:p>
        </p:txBody>
      </p:sp>
    </p:spTree>
    <p:extLst>
      <p:ext uri="{BB962C8B-B14F-4D97-AF65-F5344CB8AC3E}">
        <p14:creationId xmlns:p14="http://schemas.microsoft.com/office/powerpoint/2010/main" val="1356310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 Experiences of the Human person</a:t>
            </a:r>
          </a:p>
        </p:txBody>
      </p:sp>
      <p:sp>
        <p:nvSpPr>
          <p:cNvPr id="3" name="Content Placeholder 2"/>
          <p:cNvSpPr>
            <a:spLocks noGrp="1"/>
          </p:cNvSpPr>
          <p:nvPr>
            <p:ph idx="1"/>
          </p:nvPr>
        </p:nvSpPr>
        <p:spPr>
          <a:xfrm>
            <a:off x="1024128" y="2286000"/>
            <a:ext cx="10283952" cy="4023360"/>
          </a:xfrm>
        </p:spPr>
        <p:txBody>
          <a:bodyPr>
            <a:noAutofit/>
          </a:bodyPr>
          <a:lstStyle/>
          <a:p>
            <a:r>
              <a:rPr lang="en-US" sz="3500" b="1"/>
              <a:t>3. Reflective Judgment</a:t>
            </a:r>
            <a:r>
              <a:rPr lang="en-US" sz="3500"/>
              <a:t> – Man is capable of arriving at a judgment based on evidence(s) that he has gathered that may support a certain idea or insight. This involves the individual, the conditions he set for the evidence, and the whys. Moreover, the knower will assure himself that he is in the position to know what he has acquired and is adequate to the task as he makes his reflective judgment on matters that may concern his life and his existence.</a:t>
            </a:r>
          </a:p>
        </p:txBody>
      </p:sp>
    </p:spTree>
    <p:extLst>
      <p:ext uri="{BB962C8B-B14F-4D97-AF65-F5344CB8AC3E}">
        <p14:creationId xmlns:p14="http://schemas.microsoft.com/office/powerpoint/2010/main" val="406684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 Experiences of the Human person</a:t>
            </a:r>
          </a:p>
        </p:txBody>
      </p:sp>
      <p:sp>
        <p:nvSpPr>
          <p:cNvPr id="3" name="Content Placeholder 2"/>
          <p:cNvSpPr>
            <a:spLocks noGrp="1"/>
          </p:cNvSpPr>
          <p:nvPr>
            <p:ph idx="1"/>
          </p:nvPr>
        </p:nvSpPr>
        <p:spPr>
          <a:xfrm>
            <a:off x="1024128" y="2286000"/>
            <a:ext cx="10283952" cy="4023360"/>
          </a:xfrm>
        </p:spPr>
        <p:txBody>
          <a:bodyPr>
            <a:noAutofit/>
          </a:bodyPr>
          <a:lstStyle/>
          <a:p>
            <a:r>
              <a:rPr lang="en-US" sz="3500" b="1"/>
              <a:t>4. The Drive to Understand</a:t>
            </a:r>
            <a:r>
              <a:rPr lang="en-US" sz="3500"/>
              <a:t> – Man is driven by his thirst to know the truth about him and sometimes wishes to understand exactly how things are in themselves.* Through his drive to understand, a man is capable of discounting some of his limitations and interests for the sake of explanatory understanding. The drive to understand has three characteristics, namely: unstructured, unlimited and objective.**</a:t>
            </a:r>
          </a:p>
        </p:txBody>
      </p:sp>
    </p:spTree>
    <p:extLst>
      <p:ext uri="{BB962C8B-B14F-4D97-AF65-F5344CB8AC3E}">
        <p14:creationId xmlns:p14="http://schemas.microsoft.com/office/powerpoint/2010/main" val="3614696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13223" y="1906969"/>
            <a:ext cx="6353967" cy="1386132"/>
          </a:xfrm>
        </p:spPr>
        <p:txBody>
          <a:bodyPr anchor="b">
            <a:normAutofit/>
          </a:bodyPr>
          <a:lstStyle/>
          <a:p>
            <a:pPr algn="l"/>
            <a:r>
              <a:rPr lang="en-US" sz="4400" b="1">
                <a:solidFill>
                  <a:srgbClr val="FFFFFF"/>
                </a:solidFill>
              </a:rPr>
              <a:t>Culture</a:t>
            </a:r>
          </a:p>
        </p:txBody>
      </p:sp>
      <p:sp>
        <p:nvSpPr>
          <p:cNvPr id="3" name="Subtitle 2"/>
          <p:cNvSpPr>
            <a:spLocks noGrp="1"/>
          </p:cNvSpPr>
          <p:nvPr>
            <p:ph type="subTitle" idx="1"/>
          </p:nvPr>
        </p:nvSpPr>
        <p:spPr>
          <a:xfrm>
            <a:off x="4713224" y="3841156"/>
            <a:ext cx="5756656" cy="1433391"/>
          </a:xfrm>
        </p:spPr>
        <p:txBody>
          <a:bodyPr anchor="t">
            <a:noAutofit/>
          </a:bodyPr>
          <a:lstStyle/>
          <a:p>
            <a:endParaRPr lang="en-US" sz="3600" b="1">
              <a:solidFill>
                <a:srgbClr val="FFFFFF"/>
              </a:solidFill>
            </a:endParaRPr>
          </a:p>
          <a:p>
            <a:r>
              <a:rPr lang="en-US" sz="2400" b="1">
                <a:solidFill>
                  <a:srgbClr val="FFFFFF"/>
                </a:solidFill>
              </a:rPr>
              <a:t>Meaning and Its Influence on Moral Development</a:t>
            </a: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0532712"/>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Culture, Defined:</a:t>
            </a:r>
            <a:endParaRPr lang="en-US"/>
          </a:p>
        </p:txBody>
      </p:sp>
      <p:sp>
        <p:nvSpPr>
          <p:cNvPr id="3" name="Content Placeholder 2"/>
          <p:cNvSpPr>
            <a:spLocks noGrp="1"/>
          </p:cNvSpPr>
          <p:nvPr>
            <p:ph idx="1"/>
          </p:nvPr>
        </p:nvSpPr>
        <p:spPr>
          <a:xfrm>
            <a:off x="1024127" y="2286000"/>
            <a:ext cx="10638483" cy="4023360"/>
          </a:xfrm>
        </p:spPr>
        <p:txBody>
          <a:bodyPr>
            <a:noAutofit/>
          </a:bodyPr>
          <a:lstStyle/>
          <a:p>
            <a:pPr marL="401638" lvl="0" indent="-401638">
              <a:buFont typeface="Wingdings" panose="05000000000000000000" pitchFamily="2" charset="2"/>
              <a:buChar char="Ø"/>
            </a:pPr>
            <a:r>
              <a:rPr lang="en-US" sz="3600"/>
              <a:t>It refers to that complex whole which includes knowledge, belief, art, law, morals, custom, and any other capabilities and habits acquired by man as a member of society- Edward Tylor</a:t>
            </a:r>
          </a:p>
          <a:p>
            <a:pPr marL="0" lvl="0" indent="0">
              <a:buNone/>
            </a:pPr>
            <a:endParaRPr lang="en-US" sz="3600"/>
          </a:p>
          <a:p>
            <a:pPr marL="401638" lvl="0" indent="-401638">
              <a:buFont typeface="Wingdings" panose="05000000000000000000" pitchFamily="2" charset="2"/>
              <a:buChar char="Ø"/>
            </a:pPr>
            <a:r>
              <a:rPr lang="en-US" sz="3600"/>
              <a:t>It refers to an appreciation of good literature, music, art, and food.</a:t>
            </a:r>
          </a:p>
          <a:p>
            <a:endParaRPr lang="en-US" sz="3500"/>
          </a:p>
        </p:txBody>
      </p:sp>
    </p:spTree>
    <p:extLst>
      <p:ext uri="{BB962C8B-B14F-4D97-AF65-F5344CB8AC3E}">
        <p14:creationId xmlns:p14="http://schemas.microsoft.com/office/powerpoint/2010/main" val="4153066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Culture, Defined:</a:t>
            </a:r>
            <a:endParaRPr lang="en-US"/>
          </a:p>
        </p:txBody>
      </p:sp>
      <p:sp>
        <p:nvSpPr>
          <p:cNvPr id="3" name="Content Placeholder 2"/>
          <p:cNvSpPr>
            <a:spLocks noGrp="1"/>
          </p:cNvSpPr>
          <p:nvPr>
            <p:ph idx="1"/>
          </p:nvPr>
        </p:nvSpPr>
        <p:spPr>
          <a:xfrm>
            <a:off x="1024127" y="2286000"/>
            <a:ext cx="10638483" cy="4023360"/>
          </a:xfrm>
        </p:spPr>
        <p:txBody>
          <a:bodyPr>
            <a:noAutofit/>
          </a:bodyPr>
          <a:lstStyle/>
          <a:p>
            <a:pPr marL="401638" lvl="0" indent="-401638">
              <a:buFont typeface="Wingdings" panose="05000000000000000000" pitchFamily="2" charset="2"/>
              <a:buChar char="Ø"/>
            </a:pPr>
            <a:r>
              <a:rPr lang="en-US" sz="3600"/>
              <a:t>For anthropologists and other behavioral scientists, culture is the full range of learned human behavior patterns.</a:t>
            </a:r>
          </a:p>
          <a:p>
            <a:pPr marL="401638" lvl="0" indent="-401638">
              <a:buFont typeface="Wingdings" panose="05000000000000000000" pitchFamily="2" charset="2"/>
              <a:buChar char="Ø"/>
            </a:pPr>
            <a:r>
              <a:rPr lang="en-US" sz="3600"/>
              <a:t>Culture is a powerful human tool for survival, but it is a </a:t>
            </a:r>
            <a:r>
              <a:rPr lang="en-US" sz="3600" i="1"/>
              <a:t>fragile </a:t>
            </a:r>
            <a:r>
              <a:rPr lang="en-US" sz="3600"/>
              <a:t>phenomenon.</a:t>
            </a:r>
          </a:p>
          <a:p>
            <a:pPr marL="401638" lvl="0" indent="-401638">
              <a:buFont typeface="Wingdings" panose="05000000000000000000" pitchFamily="2" charset="2"/>
              <a:buChar char="Ø"/>
            </a:pPr>
            <a:r>
              <a:rPr lang="en-US" sz="3600"/>
              <a:t>It is constantly changing and easily lost because it exists only in our minds.</a:t>
            </a:r>
          </a:p>
          <a:p>
            <a:endParaRPr lang="en-US" sz="3500"/>
          </a:p>
        </p:txBody>
      </p:sp>
    </p:spTree>
    <p:extLst>
      <p:ext uri="{BB962C8B-B14F-4D97-AF65-F5344CB8AC3E}">
        <p14:creationId xmlns:p14="http://schemas.microsoft.com/office/powerpoint/2010/main" val="26870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a:t>Features and Characteristics of Culture</a:t>
            </a:r>
            <a:endParaRPr lang="en-US"/>
          </a:p>
        </p:txBody>
      </p:sp>
      <p:sp>
        <p:nvSpPr>
          <p:cNvPr id="3" name="Content Placeholder 2"/>
          <p:cNvSpPr>
            <a:spLocks noGrp="1"/>
          </p:cNvSpPr>
          <p:nvPr>
            <p:ph idx="1"/>
          </p:nvPr>
        </p:nvSpPr>
        <p:spPr/>
        <p:txBody>
          <a:bodyPr>
            <a:noAutofit/>
          </a:bodyPr>
          <a:lstStyle/>
          <a:p>
            <a:br>
              <a:rPr lang="en-US" sz="2800" b="1"/>
            </a:br>
            <a:endParaRPr lang="en-US" sz="2800"/>
          </a:p>
        </p:txBody>
      </p:sp>
      <p:graphicFrame>
        <p:nvGraphicFramePr>
          <p:cNvPr id="4" name="Table 3"/>
          <p:cNvGraphicFramePr>
            <a:graphicFrameLocks noGrp="1"/>
          </p:cNvGraphicFramePr>
          <p:nvPr>
            <p:extLst>
              <p:ext uri="{D42A27DB-BD31-4B8C-83A1-F6EECF244321}">
                <p14:modId xmlns:p14="http://schemas.microsoft.com/office/powerpoint/2010/main" val="1993939045"/>
              </p:ext>
            </p:extLst>
          </p:nvPr>
        </p:nvGraphicFramePr>
        <p:xfrm>
          <a:off x="1791369" y="2286000"/>
          <a:ext cx="8128000" cy="3962400"/>
        </p:xfrm>
        <a:graphic>
          <a:graphicData uri="http://schemas.openxmlformats.org/drawingml/2006/table">
            <a:tbl>
              <a:tblPr>
                <a:tableStyleId>{073A0DAA-6AF3-43AB-8588-CEC1D06C72B9}</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505326">
                <a:tc>
                  <a:txBody>
                    <a:bodyPr/>
                    <a:lstStyle/>
                    <a:p>
                      <a:r>
                        <a:rPr lang="en-US" sz="3200" b="1"/>
                        <a:t>Learned</a:t>
                      </a:r>
                      <a:endParaRPr lang="en-US" sz="3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Social</a:t>
                      </a:r>
                      <a:endParaRPr lang="en-US" sz="3200"/>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Shared</a:t>
                      </a:r>
                      <a:endParaRPr lang="en-US" sz="3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Transmitted</a:t>
                      </a:r>
                      <a:endParaRPr lang="en-US" sz="3200"/>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Accumulative</a:t>
                      </a:r>
                      <a:endParaRPr lang="en-US" sz="3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Continuous</a:t>
                      </a:r>
                      <a:endParaRPr lang="en-US" sz="3200"/>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Integrated</a:t>
                      </a:r>
                      <a:endParaRPr lang="en-US" sz="3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Changing</a:t>
                      </a:r>
                      <a:endParaRPr lang="en-US" sz="3200"/>
                    </a:p>
                  </a:txBody>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Responsive</a:t>
                      </a:r>
                      <a:endParaRPr lang="en-US" sz="3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Gratifying</a:t>
                      </a:r>
                      <a:endParaRPr lang="en-US" sz="3200"/>
                    </a:p>
                  </a:txBody>
                  <a:tcP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t>Linked with other society</a:t>
                      </a:r>
                      <a:endParaRPr lang="en-US" sz="3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320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42122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CORE LAYERS OF CULTURE</a:t>
            </a:r>
            <a:endParaRPr lang="en-US"/>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65222" y="2291714"/>
            <a:ext cx="5226802" cy="4093043"/>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5820358" y="2197766"/>
            <a:ext cx="6371642" cy="4700336"/>
          </a:xfrm>
          <a:prstGeom prst="rect">
            <a:avLst/>
          </a:prstGeom>
          <a:noFill/>
          <a:ln>
            <a:noFill/>
          </a:ln>
        </p:spPr>
      </p:pic>
    </p:spTree>
    <p:extLst>
      <p:ext uri="{BB962C8B-B14F-4D97-AF65-F5344CB8AC3E}">
        <p14:creationId xmlns:p14="http://schemas.microsoft.com/office/powerpoint/2010/main" val="1407646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Layers of Culture by Dennis O’Neil</a:t>
            </a:r>
            <a:endParaRPr lang="en-US"/>
          </a:p>
        </p:txBody>
      </p:sp>
      <p:sp>
        <p:nvSpPr>
          <p:cNvPr id="3" name="Content Placeholder 2"/>
          <p:cNvSpPr>
            <a:spLocks noGrp="1"/>
          </p:cNvSpPr>
          <p:nvPr>
            <p:ph idx="1"/>
          </p:nvPr>
        </p:nvSpPr>
        <p:spPr>
          <a:xfrm>
            <a:off x="1024128" y="2286000"/>
            <a:ext cx="10173261" cy="4355432"/>
          </a:xfrm>
        </p:spPr>
        <p:txBody>
          <a:bodyPr>
            <a:normAutofit/>
          </a:bodyPr>
          <a:lstStyle/>
          <a:p>
            <a:pPr marL="401638" indent="-401638"/>
            <a:r>
              <a:rPr lang="en-US" sz="2800" b="1" u="sng"/>
              <a:t>First Layer</a:t>
            </a:r>
            <a:r>
              <a:rPr lang="en-US" sz="2800"/>
              <a:t> – the body of cultural traditions that distinguish a specific society. Example: When people speak of Italian, Samoan, or Japanese culture, they are referring to the shared language, traditions, and beliefs that set each of these peoples apart from others.</a:t>
            </a:r>
          </a:p>
          <a:p>
            <a:r>
              <a:rPr lang="en-US" sz="2800" b="1"/>
              <a:t> 	Example: </a:t>
            </a:r>
          </a:p>
          <a:p>
            <a:pPr marL="1379538" indent="-465138">
              <a:buFont typeface="Wingdings" panose="05000000000000000000" pitchFamily="2" charset="2"/>
              <a:buChar char="Ø"/>
            </a:pPr>
            <a:r>
              <a:rPr lang="en-US" sz="2800"/>
              <a:t>We Filipinos can eat with our bare hands.</a:t>
            </a:r>
          </a:p>
          <a:p>
            <a:pPr marL="1379538" indent="-465138">
              <a:buFont typeface="Wingdings" panose="05000000000000000000" pitchFamily="2" charset="2"/>
              <a:buChar char="Ø"/>
            </a:pPr>
            <a:r>
              <a:rPr lang="en-US" sz="2800"/>
              <a:t>The use of ‘</a:t>
            </a:r>
            <a:r>
              <a:rPr lang="en-US" sz="2800" err="1"/>
              <a:t>po</a:t>
            </a:r>
            <a:r>
              <a:rPr lang="en-US" sz="2800"/>
              <a:t>’ and ‘</a:t>
            </a:r>
            <a:r>
              <a:rPr lang="en-US" sz="2800" err="1"/>
              <a:t>opo</a:t>
            </a:r>
            <a:r>
              <a:rPr lang="en-US" sz="2800"/>
              <a:t>’.</a:t>
            </a:r>
          </a:p>
          <a:p>
            <a:pPr marL="1379538" indent="-465138">
              <a:buFont typeface="Wingdings" panose="05000000000000000000" pitchFamily="2" charset="2"/>
              <a:buChar char="Ø"/>
            </a:pPr>
            <a:r>
              <a:rPr lang="en-US" sz="2800"/>
              <a:t>The </a:t>
            </a:r>
            <a:r>
              <a:rPr lang="en-US" sz="2800" i="1" err="1"/>
              <a:t>harana</a:t>
            </a:r>
            <a:r>
              <a:rPr lang="en-US" sz="2800" i="1"/>
              <a:t> </a:t>
            </a:r>
            <a:r>
              <a:rPr lang="en-US" sz="2800"/>
              <a:t>in courtship.</a:t>
            </a:r>
            <a:endParaRPr lang="en-US" sz="2800" i="1"/>
          </a:p>
        </p:txBody>
      </p:sp>
    </p:spTree>
    <p:extLst>
      <p:ext uri="{BB962C8B-B14F-4D97-AF65-F5344CB8AC3E}">
        <p14:creationId xmlns:p14="http://schemas.microsoft.com/office/powerpoint/2010/main" val="173181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Layers of Culture by Dennis O’Neil</a:t>
            </a:r>
            <a:endParaRPr lang="en-US"/>
          </a:p>
        </p:txBody>
      </p:sp>
      <p:sp>
        <p:nvSpPr>
          <p:cNvPr id="3" name="Content Placeholder 2"/>
          <p:cNvSpPr>
            <a:spLocks noGrp="1"/>
          </p:cNvSpPr>
          <p:nvPr>
            <p:ph idx="1"/>
          </p:nvPr>
        </p:nvSpPr>
        <p:spPr>
          <a:xfrm>
            <a:off x="657727" y="2084832"/>
            <a:ext cx="10860505" cy="4355432"/>
          </a:xfrm>
        </p:spPr>
        <p:txBody>
          <a:bodyPr>
            <a:normAutofit lnSpcReduction="10000"/>
          </a:bodyPr>
          <a:lstStyle/>
          <a:p>
            <a:r>
              <a:rPr lang="en-US" sz="2800" b="1"/>
              <a:t> </a:t>
            </a:r>
            <a:r>
              <a:rPr lang="en-US" sz="2800" b="1" u="sng"/>
              <a:t>Second Layer</a:t>
            </a:r>
            <a:r>
              <a:rPr lang="en-US" sz="2800"/>
              <a:t> – culture that may be part of an identity is the subculture. This occurs in a complex, diverse societies in which people have come from many different parts of the world, they often retain much of their original cultural traditions.</a:t>
            </a:r>
          </a:p>
          <a:p>
            <a:r>
              <a:rPr lang="en-US" sz="2800"/>
              <a:t> </a:t>
            </a:r>
          </a:p>
          <a:p>
            <a:r>
              <a:rPr lang="en-US" sz="2800"/>
              <a:t>As the cultural differences between members of a subculture and the dominant national culture blur and eventually disappear, the subculture ceases to exist except as a group of people who claim a common ancestry.</a:t>
            </a:r>
          </a:p>
          <a:p>
            <a:pPr marL="128016" lvl="1" indent="0">
              <a:buNone/>
            </a:pPr>
            <a:endParaRPr lang="en-US" sz="2400"/>
          </a:p>
          <a:p>
            <a:pPr marL="801688" lvl="1" indent="-674688">
              <a:buNone/>
            </a:pPr>
            <a:r>
              <a:rPr lang="en-US" sz="2400"/>
              <a:t>	Example: The diverse languages in the regions (Tagalog, </a:t>
            </a:r>
            <a:r>
              <a:rPr lang="en-US" sz="2400" err="1"/>
              <a:t>Visaya</a:t>
            </a:r>
            <a:r>
              <a:rPr lang="en-US" sz="2400"/>
              <a:t>, </a:t>
            </a:r>
            <a:r>
              <a:rPr lang="en-US" sz="2400" err="1"/>
              <a:t>Kapampangan</a:t>
            </a:r>
            <a:r>
              <a:rPr lang="en-US" sz="2400"/>
              <a:t>, et. ) of the Philippines. In the end we are still Filipinos.</a:t>
            </a:r>
          </a:p>
          <a:p>
            <a:endParaRPr lang="en-US"/>
          </a:p>
        </p:txBody>
      </p:sp>
    </p:spTree>
    <p:extLst>
      <p:ext uri="{BB962C8B-B14F-4D97-AF65-F5344CB8AC3E}">
        <p14:creationId xmlns:p14="http://schemas.microsoft.com/office/powerpoint/2010/main" val="3885066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Layers of Culture by Dennis O’Neil</a:t>
            </a:r>
            <a:endParaRPr lang="en-US"/>
          </a:p>
        </p:txBody>
      </p:sp>
      <p:sp>
        <p:nvSpPr>
          <p:cNvPr id="3" name="Content Placeholder 2"/>
          <p:cNvSpPr>
            <a:spLocks noGrp="1"/>
          </p:cNvSpPr>
          <p:nvPr>
            <p:ph idx="1"/>
          </p:nvPr>
        </p:nvSpPr>
        <p:spPr/>
        <p:txBody>
          <a:bodyPr>
            <a:normAutofit/>
          </a:bodyPr>
          <a:lstStyle/>
          <a:p>
            <a:r>
              <a:rPr lang="en-US" sz="2800" b="1" u="sng"/>
              <a:t>Third Layer</a:t>
            </a:r>
            <a:r>
              <a:rPr lang="en-US" sz="2800"/>
              <a:t> - consists of </a:t>
            </a:r>
            <a:r>
              <a:rPr lang="en-US" sz="2800" i="1"/>
              <a:t>cultural universals</a:t>
            </a:r>
            <a:r>
              <a:rPr lang="en-US" sz="2800"/>
              <a:t>. These are learned behavior patterns that are </a:t>
            </a:r>
            <a:r>
              <a:rPr lang="en-US" sz="2800" b="1"/>
              <a:t>shared by all </a:t>
            </a:r>
            <a:r>
              <a:rPr lang="en-US" sz="2800"/>
              <a:t>of humanity collectively. No matter where people live in the world, they share these universal traits.</a:t>
            </a:r>
            <a:endParaRPr lang="en-US"/>
          </a:p>
          <a:p>
            <a:endParaRPr lang="en-US" sz="2800"/>
          </a:p>
          <a:p>
            <a:r>
              <a:rPr lang="en-US" sz="2800"/>
              <a:t>Example: As human beings we believe in the concept of virtues, justice, love, etc.</a:t>
            </a:r>
          </a:p>
        </p:txBody>
      </p:sp>
    </p:spTree>
    <p:extLst>
      <p:ext uri="{BB962C8B-B14F-4D97-AF65-F5344CB8AC3E}">
        <p14:creationId xmlns:p14="http://schemas.microsoft.com/office/powerpoint/2010/main" val="3093103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FILIPINO’S VIEWS ON ETHICS</a:t>
            </a:r>
            <a:endParaRPr lang="en-US"/>
          </a:p>
        </p:txBody>
      </p:sp>
      <p:sp>
        <p:nvSpPr>
          <p:cNvPr id="3" name="Content Placeholder 2"/>
          <p:cNvSpPr>
            <a:spLocks noGrp="1"/>
          </p:cNvSpPr>
          <p:nvPr>
            <p:ph idx="1"/>
          </p:nvPr>
        </p:nvSpPr>
        <p:spPr/>
        <p:txBody>
          <a:bodyPr/>
          <a:lstStyle/>
          <a:p>
            <a:r>
              <a:rPr lang="en-US" sz="4000"/>
              <a:t>• Propriety (</a:t>
            </a:r>
            <a:r>
              <a:rPr lang="en-US" sz="4000" err="1"/>
              <a:t>Hiya</a:t>
            </a:r>
            <a:r>
              <a:rPr lang="en-US" sz="4000"/>
              <a:t>) versus Troubled (</a:t>
            </a:r>
            <a:r>
              <a:rPr lang="en-US" sz="4000" err="1"/>
              <a:t>Pagkabagabag</a:t>
            </a:r>
            <a:r>
              <a:rPr lang="en-US" sz="4000"/>
              <a:t>)</a:t>
            </a:r>
          </a:p>
          <a:p>
            <a:r>
              <a:rPr lang="en-US" sz="4000"/>
              <a:t>• Personal versus Duty/Obligations</a:t>
            </a:r>
          </a:p>
          <a:p>
            <a:r>
              <a:rPr lang="en-US" sz="4000"/>
              <a:t>• Family solidarity versus universal principle and general good</a:t>
            </a:r>
          </a:p>
          <a:p>
            <a:r>
              <a:rPr lang="en-US" sz="4000"/>
              <a:t>• </a:t>
            </a:r>
            <a:r>
              <a:rPr lang="en-US" sz="4000" err="1"/>
              <a:t>Pakikipag</a:t>
            </a:r>
            <a:r>
              <a:rPr lang="en-US" sz="4000"/>
              <a:t> </a:t>
            </a:r>
            <a:r>
              <a:rPr lang="en-US" sz="4000" err="1"/>
              <a:t>kapwa</a:t>
            </a:r>
            <a:r>
              <a:rPr lang="en-US" sz="4000"/>
              <a:t> </a:t>
            </a:r>
            <a:r>
              <a:rPr lang="en-US" sz="4000" err="1"/>
              <a:t>tao</a:t>
            </a:r>
            <a:r>
              <a:rPr lang="en-US" sz="4000"/>
              <a:t> versus </a:t>
            </a:r>
            <a:r>
              <a:rPr lang="en-US" sz="4000" err="1"/>
              <a:t>Pakikisama</a:t>
            </a:r>
            <a:endParaRPr lang="en-US" sz="4000"/>
          </a:p>
          <a:p>
            <a:pPr marL="0" indent="0">
              <a:buNone/>
            </a:pPr>
            <a:endParaRPr lang="en-US"/>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8903369" y="585216"/>
            <a:ext cx="2727158" cy="2657408"/>
          </a:xfrm>
          <a:prstGeom prst="rect">
            <a:avLst/>
          </a:prstGeom>
          <a:noFill/>
          <a:ln>
            <a:noFill/>
          </a:ln>
        </p:spPr>
      </p:pic>
    </p:spTree>
    <p:extLst>
      <p:ext uri="{BB962C8B-B14F-4D97-AF65-F5344CB8AC3E}">
        <p14:creationId xmlns:p14="http://schemas.microsoft.com/office/powerpoint/2010/main" val="3577601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THE FILIPINO CHARACTER</a:t>
            </a: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15480515"/>
              </p:ext>
            </p:extLst>
          </p:nvPr>
        </p:nvGraphicFramePr>
        <p:xfrm>
          <a:off x="641684" y="2084832"/>
          <a:ext cx="10972800" cy="3890650"/>
        </p:xfrm>
        <a:graphic>
          <a:graphicData uri="http://schemas.openxmlformats.org/drawingml/2006/table">
            <a:tbl>
              <a:tblPr firstRow="1" firstCol="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4940">
                <a:tc>
                  <a:txBody>
                    <a:bodyPr/>
                    <a:lstStyle/>
                    <a:p>
                      <a:pPr marL="0" marR="0" algn="ctr">
                        <a:lnSpc>
                          <a:spcPct val="107000"/>
                        </a:lnSpc>
                        <a:spcBef>
                          <a:spcPts val="0"/>
                        </a:spcBef>
                        <a:spcAft>
                          <a:spcPts val="0"/>
                        </a:spcAft>
                      </a:pPr>
                      <a:r>
                        <a:rPr lang="en-US" sz="2500">
                          <a:effectLst/>
                        </a:rPr>
                        <a:t>Strengths</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500">
                          <a:effectLst/>
                        </a:rPr>
                        <a:t>Weaknesses</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74940">
                <a:tc>
                  <a:txBody>
                    <a:bodyPr/>
                    <a:lstStyle/>
                    <a:p>
                      <a:pPr marL="271145" marR="0">
                        <a:lnSpc>
                          <a:spcPct val="107000"/>
                        </a:lnSpc>
                        <a:spcBef>
                          <a:spcPts val="0"/>
                        </a:spcBef>
                        <a:spcAft>
                          <a:spcPts val="0"/>
                        </a:spcAft>
                      </a:pPr>
                      <a:r>
                        <a:rPr lang="en-US" sz="2500" err="1">
                          <a:effectLst/>
                        </a:rPr>
                        <a:t>Pakikipag</a:t>
                      </a:r>
                      <a:r>
                        <a:rPr lang="en-US" sz="2500">
                          <a:effectLst/>
                        </a:rPr>
                        <a:t> </a:t>
                      </a:r>
                      <a:r>
                        <a:rPr lang="en-US" sz="2500" err="1">
                          <a:effectLst/>
                        </a:rPr>
                        <a:t>kapwa</a:t>
                      </a:r>
                      <a:r>
                        <a:rPr lang="en-US" sz="2500">
                          <a:effectLst/>
                        </a:rPr>
                        <a:t> </a:t>
                      </a:r>
                      <a:r>
                        <a:rPr lang="en-US" sz="2500" err="1">
                          <a:effectLst/>
                        </a:rPr>
                        <a:t>tao</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Extreme personalism</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74940">
                <a:tc>
                  <a:txBody>
                    <a:bodyPr/>
                    <a:lstStyle/>
                    <a:p>
                      <a:pPr marL="271145" marR="0">
                        <a:lnSpc>
                          <a:spcPct val="107000"/>
                        </a:lnSpc>
                        <a:spcBef>
                          <a:spcPts val="0"/>
                        </a:spcBef>
                        <a:spcAft>
                          <a:spcPts val="0"/>
                        </a:spcAft>
                      </a:pPr>
                      <a:r>
                        <a:rPr lang="en-US" sz="2500">
                          <a:effectLst/>
                        </a:rPr>
                        <a:t>Family solidarity</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Extreme family centeredness</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74940">
                <a:tc>
                  <a:txBody>
                    <a:bodyPr/>
                    <a:lstStyle/>
                    <a:p>
                      <a:pPr marL="271145" marR="0">
                        <a:lnSpc>
                          <a:spcPct val="107000"/>
                        </a:lnSpc>
                        <a:spcBef>
                          <a:spcPts val="0"/>
                        </a:spcBef>
                        <a:spcAft>
                          <a:spcPts val="0"/>
                        </a:spcAft>
                      </a:pPr>
                      <a:r>
                        <a:rPr lang="en-US" sz="2500">
                          <a:effectLst/>
                        </a:rPr>
                        <a:t>Joy and humor</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Lack of discipline</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53058">
                <a:tc>
                  <a:txBody>
                    <a:bodyPr/>
                    <a:lstStyle/>
                    <a:p>
                      <a:pPr marL="271145" marR="0">
                        <a:lnSpc>
                          <a:spcPct val="107000"/>
                        </a:lnSpc>
                        <a:spcBef>
                          <a:spcPts val="0"/>
                        </a:spcBef>
                        <a:spcAft>
                          <a:spcPts val="0"/>
                        </a:spcAft>
                      </a:pPr>
                      <a:r>
                        <a:rPr lang="en-US" sz="2500">
                          <a:effectLst/>
                        </a:rPr>
                        <a:t>Flexibility, adaptability, and creativity</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Passivity and lack of initiative</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74940">
                <a:tc>
                  <a:txBody>
                    <a:bodyPr/>
                    <a:lstStyle/>
                    <a:p>
                      <a:pPr marL="271145" marR="0">
                        <a:lnSpc>
                          <a:spcPct val="107000"/>
                        </a:lnSpc>
                        <a:spcBef>
                          <a:spcPts val="0"/>
                        </a:spcBef>
                        <a:spcAft>
                          <a:spcPts val="0"/>
                        </a:spcAft>
                      </a:pPr>
                      <a:r>
                        <a:rPr lang="en-US" sz="2500">
                          <a:effectLst/>
                        </a:rPr>
                        <a:t>Hard work and industry</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Colonial Mentality</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26827">
                <a:tc>
                  <a:txBody>
                    <a:bodyPr/>
                    <a:lstStyle/>
                    <a:p>
                      <a:pPr marL="271145" marR="0">
                        <a:lnSpc>
                          <a:spcPct val="107000"/>
                        </a:lnSpc>
                        <a:spcBef>
                          <a:spcPts val="0"/>
                        </a:spcBef>
                        <a:spcAft>
                          <a:spcPts val="0"/>
                        </a:spcAft>
                      </a:pPr>
                      <a:r>
                        <a:rPr lang="en-US" sz="2500">
                          <a:effectLst/>
                        </a:rPr>
                        <a:t>Hospitality</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Lavishness, outright display of generosity</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74940">
                <a:tc>
                  <a:txBody>
                    <a:bodyPr/>
                    <a:lstStyle/>
                    <a:p>
                      <a:pPr marL="271145" marR="0">
                        <a:lnSpc>
                          <a:spcPct val="107000"/>
                        </a:lnSpc>
                        <a:spcBef>
                          <a:spcPts val="0"/>
                        </a:spcBef>
                        <a:spcAft>
                          <a:spcPts val="0"/>
                        </a:spcAft>
                      </a:pPr>
                      <a:r>
                        <a:rPr lang="en-US" sz="2500">
                          <a:effectLst/>
                        </a:rPr>
                        <a:t>Gender Specific Values</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Stereotyping; role-gender assignment</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374940">
                <a:tc>
                  <a:txBody>
                    <a:bodyPr/>
                    <a:lstStyle/>
                    <a:p>
                      <a:pPr marL="271145" marR="0">
                        <a:lnSpc>
                          <a:spcPct val="107000"/>
                        </a:lnSpc>
                        <a:spcBef>
                          <a:spcPts val="0"/>
                        </a:spcBef>
                        <a:spcAft>
                          <a:spcPts val="0"/>
                        </a:spcAft>
                      </a:pPr>
                      <a:r>
                        <a:rPr lang="en-US" sz="2500">
                          <a:effectLst/>
                        </a:rPr>
                        <a:t>Faith and religiosity </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err="1">
                          <a:effectLst/>
                        </a:rPr>
                        <a:t>Kanya</a:t>
                      </a:r>
                      <a:r>
                        <a:rPr lang="en-US" sz="2500">
                          <a:effectLst/>
                        </a:rPr>
                        <a:t> </a:t>
                      </a:r>
                      <a:r>
                        <a:rPr lang="en-US" sz="2500" err="1">
                          <a:effectLst/>
                        </a:rPr>
                        <a:t>kanya</a:t>
                      </a:r>
                      <a:r>
                        <a:rPr lang="en-US" sz="2500">
                          <a:effectLst/>
                        </a:rPr>
                        <a:t> syndrome</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257664">
                <a:tc>
                  <a:txBody>
                    <a:bodyPr/>
                    <a:lstStyle/>
                    <a:p>
                      <a:pPr marL="271145" marR="0">
                        <a:lnSpc>
                          <a:spcPct val="107000"/>
                        </a:lnSpc>
                        <a:spcBef>
                          <a:spcPts val="0"/>
                        </a:spcBef>
                        <a:spcAft>
                          <a:spcPts val="0"/>
                        </a:spcAft>
                      </a:pPr>
                      <a:r>
                        <a:rPr lang="en-US" sz="2500">
                          <a:effectLst/>
                        </a:rPr>
                        <a:t>Ability to survive</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500">
                          <a:effectLst/>
                        </a:rPr>
                        <a:t>Lack of self-analysis and self-reflection </a:t>
                      </a:r>
                      <a:endParaRPr lang="en-US" sz="2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331694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ASIANS VS WESTERNERS</a:t>
            </a: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65254032"/>
              </p:ext>
            </p:extLst>
          </p:nvPr>
        </p:nvGraphicFramePr>
        <p:xfrm>
          <a:off x="1024128" y="1947111"/>
          <a:ext cx="10237430" cy="4749422"/>
        </p:xfrm>
        <a:graphic>
          <a:graphicData uri="http://schemas.openxmlformats.org/drawingml/2006/table">
            <a:tbl>
              <a:tblPr firstRow="1" firstCol="1" bandRow="1">
                <a:tableStyleId>{5C22544A-7EE6-4342-B048-85BDC9FD1C3A}</a:tableStyleId>
              </a:tblPr>
              <a:tblGrid>
                <a:gridCol w="5118715">
                  <a:extLst>
                    <a:ext uri="{9D8B030D-6E8A-4147-A177-3AD203B41FA5}">
                      <a16:colId xmlns:a16="http://schemas.microsoft.com/office/drawing/2014/main" val="20000"/>
                    </a:ext>
                  </a:extLst>
                </a:gridCol>
                <a:gridCol w="5118715">
                  <a:extLst>
                    <a:ext uri="{9D8B030D-6E8A-4147-A177-3AD203B41FA5}">
                      <a16:colId xmlns:a16="http://schemas.microsoft.com/office/drawing/2014/main" val="20001"/>
                    </a:ext>
                  </a:extLst>
                </a:gridCol>
              </a:tblGrid>
              <a:tr h="565380">
                <a:tc>
                  <a:txBody>
                    <a:bodyPr/>
                    <a:lstStyle/>
                    <a:p>
                      <a:pPr marL="0" marR="0" algn="ctr">
                        <a:lnSpc>
                          <a:spcPct val="107000"/>
                        </a:lnSpc>
                        <a:spcBef>
                          <a:spcPts val="0"/>
                        </a:spcBef>
                        <a:spcAft>
                          <a:spcPts val="0"/>
                        </a:spcAft>
                      </a:pPr>
                      <a:r>
                        <a:rPr lang="en-US" sz="2400">
                          <a:effectLst/>
                        </a:rPr>
                        <a:t>Asians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a:effectLst/>
                        </a:rPr>
                        <a:t>Westerners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65380">
                <a:tc>
                  <a:txBody>
                    <a:bodyPr/>
                    <a:lstStyle/>
                    <a:p>
                      <a:pPr marL="271145" marR="0">
                        <a:lnSpc>
                          <a:spcPct val="107000"/>
                        </a:lnSpc>
                        <a:spcBef>
                          <a:spcPts val="0"/>
                        </a:spcBef>
                        <a:spcAft>
                          <a:spcPts val="0"/>
                        </a:spcAft>
                      </a:pPr>
                      <a:r>
                        <a:rPr lang="en-US" sz="2400">
                          <a:effectLst/>
                        </a:rPr>
                        <a:t>Collectivistic (community and family)</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400">
                          <a:effectLst/>
                        </a:rPr>
                        <a:t>Individualistic</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5380">
                <a:tc>
                  <a:txBody>
                    <a:bodyPr/>
                    <a:lstStyle/>
                    <a:p>
                      <a:pPr marL="271145" marR="0">
                        <a:lnSpc>
                          <a:spcPct val="107000"/>
                        </a:lnSpc>
                        <a:spcBef>
                          <a:spcPts val="0"/>
                        </a:spcBef>
                        <a:spcAft>
                          <a:spcPts val="0"/>
                        </a:spcAft>
                      </a:pPr>
                      <a:r>
                        <a:rPr lang="en-US" sz="2400">
                          <a:effectLst/>
                        </a:rPr>
                        <a:t>Risk avoidance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400">
                          <a:effectLst/>
                        </a:rPr>
                        <a:t>Risk taker (Willing to take risk)</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157664">
                <a:tc>
                  <a:txBody>
                    <a:bodyPr/>
                    <a:lstStyle/>
                    <a:p>
                      <a:pPr marL="271145" marR="0">
                        <a:lnSpc>
                          <a:spcPct val="107000"/>
                        </a:lnSpc>
                        <a:spcBef>
                          <a:spcPts val="0"/>
                        </a:spcBef>
                        <a:spcAft>
                          <a:spcPts val="0"/>
                        </a:spcAft>
                      </a:pPr>
                      <a:r>
                        <a:rPr lang="en-US" sz="2400">
                          <a:effectLst/>
                        </a:rPr>
                        <a:t>Asian men do not compete directly against women, and vice-versa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160020" marR="0">
                        <a:lnSpc>
                          <a:spcPct val="107000"/>
                        </a:lnSpc>
                        <a:spcBef>
                          <a:spcPts val="0"/>
                        </a:spcBef>
                        <a:spcAft>
                          <a:spcPts val="0"/>
                        </a:spcAft>
                      </a:pPr>
                      <a:r>
                        <a:rPr lang="en-US" sz="2400">
                          <a:effectLst/>
                        </a:rPr>
                        <a:t>Gender free competition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65380">
                <a:tc>
                  <a:txBody>
                    <a:bodyPr/>
                    <a:lstStyle/>
                    <a:p>
                      <a:pPr marL="271145" marR="0">
                        <a:lnSpc>
                          <a:spcPct val="107000"/>
                        </a:lnSpc>
                        <a:spcBef>
                          <a:spcPts val="0"/>
                        </a:spcBef>
                        <a:spcAft>
                          <a:spcPts val="0"/>
                        </a:spcAft>
                      </a:pPr>
                      <a:r>
                        <a:rPr lang="en-US" sz="2400">
                          <a:effectLst/>
                        </a:rPr>
                        <a:t>Attitude: Holistic views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400">
                          <a:effectLst/>
                        </a:rPr>
                        <a:t>Attitude: Analytical and detailed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5380">
                <a:tc>
                  <a:txBody>
                    <a:bodyPr/>
                    <a:lstStyle/>
                    <a:p>
                      <a:pPr marL="271145" marR="0">
                        <a:lnSpc>
                          <a:spcPct val="107000"/>
                        </a:lnSpc>
                        <a:spcBef>
                          <a:spcPts val="0"/>
                        </a:spcBef>
                        <a:spcAft>
                          <a:spcPts val="0"/>
                        </a:spcAft>
                      </a:pPr>
                      <a:r>
                        <a:rPr lang="en-US" sz="2400">
                          <a:effectLst/>
                        </a:rPr>
                        <a:t>Suppress one’s opinions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400">
                          <a:effectLst/>
                        </a:rPr>
                        <a:t>Expresses one’s opinions freely</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65380">
                <a:tc>
                  <a:txBody>
                    <a:bodyPr/>
                    <a:lstStyle/>
                    <a:p>
                      <a:pPr marL="271145" marR="0">
                        <a:lnSpc>
                          <a:spcPct val="107000"/>
                        </a:lnSpc>
                        <a:spcBef>
                          <a:spcPts val="0"/>
                        </a:spcBef>
                        <a:spcAft>
                          <a:spcPts val="0"/>
                        </a:spcAft>
                      </a:pPr>
                      <a:r>
                        <a:rPr lang="en-US" sz="2400">
                          <a:effectLst/>
                        </a:rPr>
                        <a:t>Time orientation: Cynical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60020" marR="0">
                        <a:lnSpc>
                          <a:spcPct val="107000"/>
                        </a:lnSpc>
                        <a:spcBef>
                          <a:spcPts val="0"/>
                        </a:spcBef>
                        <a:spcAft>
                          <a:spcPts val="0"/>
                        </a:spcAft>
                      </a:pPr>
                      <a:r>
                        <a:rPr lang="en-US" sz="2400">
                          <a:effectLst/>
                        </a:rPr>
                        <a:t>Time orientation: Linear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418437" y="194511"/>
            <a:ext cx="2338705" cy="1752600"/>
          </a:xfrm>
          <a:prstGeom prst="rect">
            <a:avLst/>
          </a:prstGeom>
          <a:noFill/>
          <a:ln>
            <a:noFill/>
          </a:ln>
        </p:spPr>
      </p:pic>
    </p:spTree>
    <p:extLst>
      <p:ext uri="{BB962C8B-B14F-4D97-AF65-F5344CB8AC3E}">
        <p14:creationId xmlns:p14="http://schemas.microsoft.com/office/powerpoint/2010/main" val="36416876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4A92382FF25B44B7DF65B12BEADE66" ma:contentTypeVersion="7" ma:contentTypeDescription="Create a new document." ma:contentTypeScope="" ma:versionID="c987230984f3fdaa154004c97f060e29">
  <xsd:schema xmlns:xsd="http://www.w3.org/2001/XMLSchema" xmlns:xs="http://www.w3.org/2001/XMLSchema" xmlns:p="http://schemas.microsoft.com/office/2006/metadata/properties" xmlns:ns2="866e2459-4d4f-4228-b004-32f282435ffc" targetNamespace="http://schemas.microsoft.com/office/2006/metadata/properties" ma:root="true" ma:fieldsID="3148b43669c1e93d2374ea8354b0f74e" ns2:_="">
    <xsd:import namespace="866e2459-4d4f-4228-b004-32f282435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6e2459-4d4f-4228-b004-32f282435f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D539A8D-0A83-489C-95BF-265B22BF306C}">
  <ds:schemaRefs>
    <ds:schemaRef ds:uri="866e2459-4d4f-4228-b004-32f282435ff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156C6F4-1DED-4553-80D1-4680A95FB04E}">
  <ds:schemaRefs>
    <ds:schemaRef ds:uri="http://schemas.microsoft.com/sharepoint/v3/contenttype/forms"/>
  </ds:schemaRefs>
</ds:datastoreItem>
</file>

<file path=customXml/itemProps3.xml><?xml version="1.0" encoding="utf-8"?>
<ds:datastoreItem xmlns:ds="http://schemas.openxmlformats.org/officeDocument/2006/customXml" ds:itemID="{3F90080E-6E1A-4920-834D-7DB95A6C023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5</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Integral</vt:lpstr>
      <vt:lpstr>The meaning of human nature</vt:lpstr>
      <vt:lpstr>The Meaning of Human Nature</vt:lpstr>
      <vt:lpstr>The Meaning of Human Nature</vt:lpstr>
      <vt:lpstr>Four Experiences of the Human person</vt:lpstr>
      <vt:lpstr>Four Experiences of the Human person</vt:lpstr>
      <vt:lpstr>Four Experiences of the Human person</vt:lpstr>
      <vt:lpstr>Four Experiences of the Human person</vt:lpstr>
      <vt:lpstr>Four Experiences of the Human person</vt:lpstr>
      <vt:lpstr>Culture</vt:lpstr>
      <vt:lpstr>Culture, Defined:</vt:lpstr>
      <vt:lpstr>Culture, Defined:</vt:lpstr>
      <vt:lpstr>Features and Characteristics of Culture</vt:lpstr>
      <vt:lpstr>CORE LAYERS OF CULTURE</vt:lpstr>
      <vt:lpstr>Layers of Culture by Dennis O’Neil</vt:lpstr>
      <vt:lpstr>Layers of Culture by Dennis O’Neil</vt:lpstr>
      <vt:lpstr>Layers of Culture by Dennis O’Neil</vt:lpstr>
      <vt:lpstr>FILIPINO’S VIEWS ON ETHICS</vt:lpstr>
      <vt:lpstr>THE FILIPINO CHARACTER</vt:lpstr>
      <vt:lpstr>ASIANS VS WESTERNERS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Philosophical Foundation: Pre-Socratic &amp; Socratic Philosophers Perspectives</dc:title>
  <dc:creator>Social Science Department</dc:creator>
  <cp:revision>1</cp:revision>
  <cp:lastPrinted>2019-08-17T02:04:33Z</cp:lastPrinted>
  <dcterms:created xsi:type="dcterms:W3CDTF">2019-08-17T01:26:40Z</dcterms:created>
  <dcterms:modified xsi:type="dcterms:W3CDTF">2026-10-01T01:40:10Z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0x010100884A92382FF25B44B7DF65B12BEADE66</vt:lpwstr>
  </property>
</Properties>
</file>