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1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3/30/2026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Religion, Faith &amp; Morality</a:t>
            </a:r>
            <a:endParaRPr lang="en-US" b="1" dirty="0"/>
          </a:p>
        </p:txBody>
      </p:sp>
      <p:sp>
        <p:nvSpPr>
          <p:cNvPr id="3" name="Subtitle 2"/>
          <p:cNvSpPr>
            <a:spLocks noGrp="1"/>
          </p:cNvSpPr>
          <p:nvPr>
            <p:ph type="subTitle" idx="1"/>
          </p:nvPr>
        </p:nvSpPr>
        <p:spPr/>
        <p:txBody>
          <a:bodyPr/>
          <a:lstStyle/>
          <a:p>
            <a:r>
              <a:rPr lang="en-US" dirty="0" smtClean="0"/>
              <a:t>By Eduardo S. </a:t>
            </a:r>
            <a:r>
              <a:rPr lang="en-US" dirty="0" err="1" smtClean="0"/>
              <a:t>Sucob</a:t>
            </a:r>
            <a:r>
              <a:rPr lang="en-US" dirty="0" smtClean="0"/>
              <a:t>, Jr.</a:t>
            </a:r>
            <a:endParaRPr lang="en-US" dirty="0"/>
          </a:p>
        </p:txBody>
      </p:sp>
    </p:spTree>
    <p:extLst>
      <p:ext uri="{BB962C8B-B14F-4D97-AF65-F5344CB8AC3E}">
        <p14:creationId xmlns:p14="http://schemas.microsoft.com/office/powerpoint/2010/main" val="31362218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Learning Objectives</a:t>
            </a:r>
            <a:endParaRPr lang="en-US" b="1" dirty="0"/>
          </a:p>
        </p:txBody>
      </p:sp>
      <p:sp>
        <p:nvSpPr>
          <p:cNvPr id="3" name="Content Placeholder 2"/>
          <p:cNvSpPr>
            <a:spLocks noGrp="1"/>
          </p:cNvSpPr>
          <p:nvPr>
            <p:ph idx="1"/>
          </p:nvPr>
        </p:nvSpPr>
        <p:spPr>
          <a:xfrm>
            <a:off x="684212" y="2541494"/>
            <a:ext cx="10665106" cy="3615267"/>
          </a:xfrm>
        </p:spPr>
        <p:txBody>
          <a:bodyPr>
            <a:normAutofit/>
          </a:bodyPr>
          <a:lstStyle/>
          <a:p>
            <a:pPr marL="0" indent="0">
              <a:buNone/>
            </a:pPr>
            <a:r>
              <a:rPr lang="en-US" sz="2400" dirty="0" smtClean="0">
                <a:solidFill>
                  <a:schemeClr val="bg1"/>
                </a:solidFill>
              </a:rPr>
              <a:t>By the end of this presentation, you will be able to:</a:t>
            </a:r>
          </a:p>
          <a:p>
            <a:pPr marL="0" indent="0">
              <a:buNone/>
            </a:pPr>
            <a:endParaRPr lang="en-US" sz="2400" dirty="0" smtClean="0">
              <a:solidFill>
                <a:schemeClr val="bg1"/>
              </a:solidFill>
            </a:endParaRPr>
          </a:p>
          <a:p>
            <a:r>
              <a:rPr lang="en-US" sz="2400" dirty="0" smtClean="0">
                <a:solidFill>
                  <a:schemeClr val="bg1"/>
                </a:solidFill>
              </a:rPr>
              <a:t>Explain the differences between various types of religious organizations;</a:t>
            </a:r>
          </a:p>
          <a:p>
            <a:r>
              <a:rPr lang="en-US" sz="2400" dirty="0" smtClean="0">
                <a:solidFill>
                  <a:schemeClr val="bg1"/>
                </a:solidFill>
              </a:rPr>
              <a:t>Understand classification of religion;</a:t>
            </a:r>
          </a:p>
          <a:p>
            <a:r>
              <a:rPr lang="en-US" sz="2400" dirty="0" smtClean="0">
                <a:solidFill>
                  <a:schemeClr val="bg1"/>
                </a:solidFill>
              </a:rPr>
              <a:t>Describe several major world religions; and,</a:t>
            </a:r>
          </a:p>
          <a:p>
            <a:r>
              <a:rPr lang="en-US" sz="2400" dirty="0" smtClean="0">
                <a:solidFill>
                  <a:schemeClr val="bg1"/>
                </a:solidFill>
              </a:rPr>
              <a:t>Discuss how religion affects our actions in life.</a:t>
            </a:r>
            <a:endParaRPr lang="en-US" sz="2400" dirty="0">
              <a:solidFill>
                <a:schemeClr val="bg1"/>
              </a:solidFill>
            </a:endParaRPr>
          </a:p>
        </p:txBody>
      </p:sp>
    </p:spTree>
    <p:extLst>
      <p:ext uri="{BB962C8B-B14F-4D97-AF65-F5344CB8AC3E}">
        <p14:creationId xmlns:p14="http://schemas.microsoft.com/office/powerpoint/2010/main" val="10737161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Religion Defined</a:t>
            </a:r>
            <a:endParaRPr lang="en-US" b="1" dirty="0"/>
          </a:p>
        </p:txBody>
      </p:sp>
      <p:sp>
        <p:nvSpPr>
          <p:cNvPr id="3" name="Content Placeholder 2"/>
          <p:cNvSpPr>
            <a:spLocks noGrp="1"/>
          </p:cNvSpPr>
          <p:nvPr>
            <p:ph idx="1"/>
          </p:nvPr>
        </p:nvSpPr>
        <p:spPr>
          <a:xfrm>
            <a:off x="684212" y="2272554"/>
            <a:ext cx="10665106" cy="3615267"/>
          </a:xfrm>
        </p:spPr>
        <p:txBody>
          <a:bodyPr>
            <a:normAutofit fontScale="92500" lnSpcReduction="10000"/>
          </a:bodyPr>
          <a:lstStyle/>
          <a:p>
            <a:r>
              <a:rPr lang="en-US" sz="2400" dirty="0" smtClean="0">
                <a:solidFill>
                  <a:schemeClr val="bg1"/>
                </a:solidFill>
              </a:rPr>
              <a:t>Religion is a set of beliefs concerning the cause, nature, and purpose of the universe, especially when considered as the creation of superhuman agency or agencies (god/s; deities), usually involving devotional and ritual observances, and often containing a moral code governing the conduct of human affairs.</a:t>
            </a:r>
          </a:p>
          <a:p>
            <a:pPr marL="0" indent="0">
              <a:buNone/>
            </a:pPr>
            <a:endParaRPr lang="en-US" sz="2400" dirty="0">
              <a:solidFill>
                <a:schemeClr val="bg1"/>
              </a:solidFill>
            </a:endParaRPr>
          </a:p>
          <a:p>
            <a:r>
              <a:rPr lang="en-US" sz="2400" dirty="0" smtClean="0">
                <a:solidFill>
                  <a:schemeClr val="bg1"/>
                </a:solidFill>
              </a:rPr>
              <a:t>“A religion is a unified system of beliefs and practices relative to sacred things, that is to say, things set apart and forbidden – beliefs and practices which unite into one single moral community called a Church, all those who adhere to them” – Emile Durkheim</a:t>
            </a:r>
            <a:endParaRPr lang="en-US" sz="2400" dirty="0">
              <a:solidFill>
                <a:schemeClr val="bg1"/>
              </a:solidFill>
            </a:endParaRPr>
          </a:p>
        </p:txBody>
      </p:sp>
    </p:spTree>
    <p:extLst>
      <p:ext uri="{BB962C8B-B14F-4D97-AF65-F5344CB8AC3E}">
        <p14:creationId xmlns:p14="http://schemas.microsoft.com/office/powerpoint/2010/main" val="26631326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Types of religious organizations</a:t>
            </a:r>
            <a:endParaRPr lang="en-US" b="1" dirty="0"/>
          </a:p>
        </p:txBody>
      </p:sp>
      <p:sp>
        <p:nvSpPr>
          <p:cNvPr id="3" name="Content Placeholder 2"/>
          <p:cNvSpPr>
            <a:spLocks noGrp="1"/>
          </p:cNvSpPr>
          <p:nvPr>
            <p:ph idx="1"/>
          </p:nvPr>
        </p:nvSpPr>
        <p:spPr>
          <a:xfrm>
            <a:off x="684212" y="2272554"/>
            <a:ext cx="10665106" cy="3615267"/>
          </a:xfrm>
        </p:spPr>
        <p:txBody>
          <a:bodyPr>
            <a:normAutofit/>
          </a:bodyPr>
          <a:lstStyle/>
          <a:p>
            <a:pPr algn="just"/>
            <a:r>
              <a:rPr lang="en-US" sz="2400" b="1" dirty="0" smtClean="0">
                <a:solidFill>
                  <a:schemeClr val="bg1"/>
                </a:solidFill>
              </a:rPr>
              <a:t>Cult – </a:t>
            </a:r>
            <a:r>
              <a:rPr lang="en-US" sz="2400" dirty="0" smtClean="0">
                <a:solidFill>
                  <a:schemeClr val="bg1"/>
                </a:solidFill>
              </a:rPr>
              <a:t>are new religious groups. The term often carries a bad connotation. However, almost all religions began as cults and gradually progressed to levels of greater size and organization. The term cult is sometimes used interchangeably with the term new religious movement (NRM). In its pejorative use, these groups are often disparaged as being secretive, highly controlling of members’ lives, and dominated by a single, charismatic leader.</a:t>
            </a:r>
          </a:p>
        </p:txBody>
      </p:sp>
    </p:spTree>
    <p:extLst>
      <p:ext uri="{BB962C8B-B14F-4D97-AF65-F5344CB8AC3E}">
        <p14:creationId xmlns:p14="http://schemas.microsoft.com/office/powerpoint/2010/main" val="1198429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13450"/>
            <a:ext cx="10665106" cy="1507067"/>
          </a:xfrm>
        </p:spPr>
        <p:txBody>
          <a:bodyPr/>
          <a:lstStyle/>
          <a:p>
            <a:r>
              <a:rPr lang="en-US" b="1" dirty="0" smtClean="0"/>
              <a:t>Types of religious organizations</a:t>
            </a:r>
            <a:endParaRPr lang="en-US" b="1" dirty="0"/>
          </a:p>
        </p:txBody>
      </p:sp>
      <p:sp>
        <p:nvSpPr>
          <p:cNvPr id="3" name="Content Placeholder 2"/>
          <p:cNvSpPr>
            <a:spLocks noGrp="1"/>
          </p:cNvSpPr>
          <p:nvPr>
            <p:ph idx="1"/>
          </p:nvPr>
        </p:nvSpPr>
        <p:spPr>
          <a:xfrm>
            <a:off x="349624" y="2272554"/>
            <a:ext cx="11389658" cy="3615267"/>
          </a:xfrm>
        </p:spPr>
        <p:txBody>
          <a:bodyPr>
            <a:noAutofit/>
          </a:bodyPr>
          <a:lstStyle/>
          <a:p>
            <a:pPr algn="just"/>
            <a:r>
              <a:rPr lang="en-US" sz="2400" b="1" dirty="0" smtClean="0">
                <a:solidFill>
                  <a:schemeClr val="bg1"/>
                </a:solidFill>
              </a:rPr>
              <a:t>Sect –  </a:t>
            </a:r>
            <a:r>
              <a:rPr lang="en-US" sz="2400" dirty="0" smtClean="0">
                <a:solidFill>
                  <a:schemeClr val="bg1"/>
                </a:solidFill>
              </a:rPr>
              <a:t>a </a:t>
            </a:r>
            <a:r>
              <a:rPr lang="en-US" sz="2400" dirty="0">
                <a:solidFill>
                  <a:schemeClr val="bg1"/>
                </a:solidFill>
              </a:rPr>
              <a:t>small and relatively new group. Most of the well-known Christian denominations in the United States today began as sects. For example, the Methodists and Baptists protested against their parent Anglican Church in England, just as Henry VIII protested against the Catholic Church by forming the Anglican Church. From “protest” comes the term Protestant.</a:t>
            </a:r>
          </a:p>
          <a:p>
            <a:pPr algn="just" fontAlgn="base"/>
            <a:r>
              <a:rPr lang="en-US" sz="2400" dirty="0">
                <a:solidFill>
                  <a:schemeClr val="bg1"/>
                </a:solidFill>
              </a:rPr>
              <a:t>Occasionally, a sect is a breakaway group that may be in tension with larger society. They sometimes claim to be returning to “the fundamentals” or to contest the veracity of a particular doctrine. When membership in a sect increases over time, it may grow into a denomination. Often a sect begins as an offshoot of a denomination, when a group of members believes they should separate from the larger group</a:t>
            </a:r>
            <a:r>
              <a:rPr lang="en-US" sz="2400" dirty="0" smtClean="0">
                <a:solidFill>
                  <a:schemeClr val="bg1"/>
                </a:solidFill>
              </a:rPr>
              <a:t>.</a:t>
            </a:r>
            <a:endParaRPr lang="en-US" sz="2400" dirty="0">
              <a:solidFill>
                <a:schemeClr val="bg1"/>
              </a:solidFill>
            </a:endParaRPr>
          </a:p>
        </p:txBody>
      </p:sp>
    </p:spTree>
    <p:extLst>
      <p:ext uri="{BB962C8B-B14F-4D97-AF65-F5344CB8AC3E}">
        <p14:creationId xmlns:p14="http://schemas.microsoft.com/office/powerpoint/2010/main" val="22790068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Types of religious organizations</a:t>
            </a:r>
            <a:endParaRPr lang="en-US" b="1" dirty="0"/>
          </a:p>
        </p:txBody>
      </p:sp>
      <p:sp>
        <p:nvSpPr>
          <p:cNvPr id="3" name="Content Placeholder 2"/>
          <p:cNvSpPr>
            <a:spLocks noGrp="1"/>
          </p:cNvSpPr>
          <p:nvPr>
            <p:ph idx="1"/>
          </p:nvPr>
        </p:nvSpPr>
        <p:spPr>
          <a:xfrm>
            <a:off x="684212" y="2272554"/>
            <a:ext cx="10665106" cy="3615267"/>
          </a:xfrm>
        </p:spPr>
        <p:txBody>
          <a:bodyPr>
            <a:normAutofit/>
          </a:bodyPr>
          <a:lstStyle/>
          <a:p>
            <a:pPr algn="just"/>
            <a:r>
              <a:rPr lang="en-US" sz="2400" b="1" dirty="0" smtClean="0">
                <a:solidFill>
                  <a:schemeClr val="bg1"/>
                </a:solidFill>
              </a:rPr>
              <a:t>Denomination – </a:t>
            </a:r>
            <a:r>
              <a:rPr lang="en-US" sz="2400" dirty="0" smtClean="0">
                <a:solidFill>
                  <a:schemeClr val="bg1"/>
                </a:solidFill>
              </a:rPr>
              <a:t>is </a:t>
            </a:r>
            <a:r>
              <a:rPr lang="en-US" sz="2400" dirty="0">
                <a:solidFill>
                  <a:schemeClr val="bg1"/>
                </a:solidFill>
              </a:rPr>
              <a:t>a large, mainstream religious organization, but it does not claim to be official or state sponsored. It is one religion among many. For example, Baptist, African Methodist Episcopal, Catholic, and Seventh-day Adventist are all Christian denominations</a:t>
            </a:r>
            <a:r>
              <a:rPr lang="en-US" sz="2400" dirty="0" smtClean="0">
                <a:solidFill>
                  <a:schemeClr val="bg1"/>
                </a:solidFill>
              </a:rPr>
              <a:t>.</a:t>
            </a:r>
          </a:p>
        </p:txBody>
      </p:sp>
    </p:spTree>
    <p:extLst>
      <p:ext uri="{BB962C8B-B14F-4D97-AF65-F5344CB8AC3E}">
        <p14:creationId xmlns:p14="http://schemas.microsoft.com/office/powerpoint/2010/main" val="21068310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Types of religious organizations</a:t>
            </a:r>
            <a:endParaRPr lang="en-US" b="1" dirty="0"/>
          </a:p>
        </p:txBody>
      </p:sp>
      <p:sp>
        <p:nvSpPr>
          <p:cNvPr id="3" name="Content Placeholder 2"/>
          <p:cNvSpPr>
            <a:spLocks noGrp="1"/>
          </p:cNvSpPr>
          <p:nvPr>
            <p:ph idx="1"/>
          </p:nvPr>
        </p:nvSpPr>
        <p:spPr>
          <a:xfrm>
            <a:off x="684212" y="2272554"/>
            <a:ext cx="10665106" cy="3615267"/>
          </a:xfrm>
        </p:spPr>
        <p:txBody>
          <a:bodyPr>
            <a:normAutofit/>
          </a:bodyPr>
          <a:lstStyle/>
          <a:p>
            <a:pPr algn="just"/>
            <a:r>
              <a:rPr lang="en-US" sz="2400" b="1" dirty="0" smtClean="0">
                <a:solidFill>
                  <a:schemeClr val="bg1"/>
                </a:solidFill>
              </a:rPr>
              <a:t>Ecclesia – </a:t>
            </a:r>
            <a:r>
              <a:rPr lang="en-US" sz="2400" dirty="0" smtClean="0">
                <a:solidFill>
                  <a:schemeClr val="bg1"/>
                </a:solidFill>
              </a:rPr>
              <a:t>originally </a:t>
            </a:r>
            <a:r>
              <a:rPr lang="en-US" sz="2400" dirty="0">
                <a:solidFill>
                  <a:schemeClr val="bg1"/>
                </a:solidFill>
              </a:rPr>
              <a:t>referring to a political assembly of citizens in ancient Athens, Greece, now refers to a </a:t>
            </a:r>
            <a:r>
              <a:rPr lang="en-US" sz="2400" u="sng" dirty="0">
                <a:solidFill>
                  <a:schemeClr val="bg1"/>
                </a:solidFill>
              </a:rPr>
              <a:t>congregation</a:t>
            </a:r>
            <a:r>
              <a:rPr lang="en-US" sz="2400" dirty="0">
                <a:solidFill>
                  <a:schemeClr val="bg1"/>
                </a:solidFill>
              </a:rPr>
              <a:t>. In sociology, the term is used to refer to a religious group that most all members of a society belong to. It is considered a nationally recognized, or official, religion that holds a religious monopoly and is closely allied with state and secular powers. The United States does not have an ecclesia by this standard; in fact, this is the type of religious organization that many of the first colonists came to America to escape</a:t>
            </a:r>
            <a:r>
              <a:rPr lang="en-US" sz="2400" dirty="0" smtClean="0">
                <a:solidFill>
                  <a:schemeClr val="bg1"/>
                </a:solidFill>
              </a:rPr>
              <a:t>.</a:t>
            </a:r>
          </a:p>
        </p:txBody>
      </p:sp>
    </p:spTree>
    <p:extLst>
      <p:ext uri="{BB962C8B-B14F-4D97-AF65-F5344CB8AC3E}">
        <p14:creationId xmlns:p14="http://schemas.microsoft.com/office/powerpoint/2010/main" val="32669104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Types of religious organizations</a:t>
            </a:r>
            <a:endParaRPr lang="en-US" b="1" dirty="0"/>
          </a:p>
        </p:txBody>
      </p:sp>
      <p:sp>
        <p:nvSpPr>
          <p:cNvPr id="3" name="Content Placeholder 2"/>
          <p:cNvSpPr>
            <a:spLocks noGrp="1"/>
          </p:cNvSpPr>
          <p:nvPr>
            <p:ph idx="1"/>
          </p:nvPr>
        </p:nvSpPr>
        <p:spPr>
          <a:xfrm>
            <a:off x="684212" y="2272554"/>
            <a:ext cx="10665106" cy="3615267"/>
          </a:xfrm>
        </p:spPr>
        <p:txBody>
          <a:bodyPr>
            <a:normAutofit/>
          </a:bodyPr>
          <a:lstStyle/>
          <a:p>
            <a:pPr algn="just"/>
            <a:r>
              <a:rPr lang="en-US" sz="2400" dirty="0">
                <a:solidFill>
                  <a:schemeClr val="bg1"/>
                </a:solidFill>
              </a:rPr>
              <a:t>One way to remember these religious organizational terms is to think of cults, sects, denominations, and ecclesia representing a continuum, with increasing influence on society, where cults are least influential and ecclesia are most influential.</a:t>
            </a:r>
            <a:endParaRPr lang="en-US" sz="2400" dirty="0" smtClean="0">
              <a:solidFill>
                <a:schemeClr val="bg1"/>
              </a:solidFill>
            </a:endParaRPr>
          </a:p>
        </p:txBody>
      </p:sp>
    </p:spTree>
    <p:extLst>
      <p:ext uri="{BB962C8B-B14F-4D97-AF65-F5344CB8AC3E}">
        <p14:creationId xmlns:p14="http://schemas.microsoft.com/office/powerpoint/2010/main" val="25917230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smtClean="0"/>
              <a:t>Types of religions</a:t>
            </a:r>
            <a:endParaRPr lang="en-US" b="1" dirty="0"/>
          </a:p>
        </p:txBody>
      </p:sp>
      <p:sp>
        <p:nvSpPr>
          <p:cNvPr id="3" name="Content Placeholder 2"/>
          <p:cNvSpPr>
            <a:spLocks noGrp="1"/>
          </p:cNvSpPr>
          <p:nvPr>
            <p:ph idx="1"/>
          </p:nvPr>
        </p:nvSpPr>
        <p:spPr>
          <a:xfrm>
            <a:off x="684212" y="2272554"/>
            <a:ext cx="10665106" cy="3615267"/>
          </a:xfrm>
        </p:spPr>
        <p:txBody>
          <a:bodyPr>
            <a:normAutofit/>
          </a:bodyPr>
          <a:lstStyle/>
          <a:p>
            <a:pPr algn="just"/>
            <a:r>
              <a:rPr lang="en-US" sz="2400" dirty="0">
                <a:solidFill>
                  <a:schemeClr val="bg1"/>
                </a:solidFill>
              </a:rPr>
              <a:t>Scholars from a variety of disciplines have strived to classify religions. One widely accepted categorization that helps people understand different belief systems considers what or who people worship (if anything). Using this method of classification, religions might fall into one of these basic </a:t>
            </a:r>
            <a:r>
              <a:rPr lang="en-US" sz="2400" dirty="0" smtClean="0">
                <a:solidFill>
                  <a:schemeClr val="bg1"/>
                </a:solidFill>
              </a:rPr>
              <a:t>categories:</a:t>
            </a:r>
          </a:p>
          <a:p>
            <a:pPr lvl="1" algn="just"/>
            <a:r>
              <a:rPr lang="en-US" sz="2200" dirty="0" smtClean="0">
                <a:solidFill>
                  <a:schemeClr val="bg1"/>
                </a:solidFill>
              </a:rPr>
              <a:t>1. Theism</a:t>
            </a:r>
          </a:p>
          <a:p>
            <a:pPr lvl="1" algn="just"/>
            <a:r>
              <a:rPr lang="en-US" sz="2200" dirty="0" smtClean="0">
                <a:solidFill>
                  <a:schemeClr val="bg1"/>
                </a:solidFill>
              </a:rPr>
              <a:t>2. Agnosticism</a:t>
            </a:r>
          </a:p>
          <a:p>
            <a:pPr lvl="1" algn="just"/>
            <a:r>
              <a:rPr lang="en-US" sz="2200" dirty="0" smtClean="0">
                <a:solidFill>
                  <a:schemeClr val="bg1"/>
                </a:solidFill>
              </a:rPr>
              <a:t>3. Atheism</a:t>
            </a:r>
          </a:p>
        </p:txBody>
      </p:sp>
    </p:spTree>
    <p:extLst>
      <p:ext uri="{BB962C8B-B14F-4D97-AF65-F5344CB8AC3E}">
        <p14:creationId xmlns:p14="http://schemas.microsoft.com/office/powerpoint/2010/main" val="4080505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Theism</a:t>
            </a:r>
            <a:endParaRPr lang="en-US" b="1" dirty="0"/>
          </a:p>
        </p:txBody>
      </p:sp>
      <p:sp>
        <p:nvSpPr>
          <p:cNvPr id="3" name="Content Placeholder 2"/>
          <p:cNvSpPr>
            <a:spLocks noGrp="1"/>
          </p:cNvSpPr>
          <p:nvPr>
            <p:ph idx="1"/>
          </p:nvPr>
        </p:nvSpPr>
        <p:spPr>
          <a:xfrm>
            <a:off x="684212" y="1748118"/>
            <a:ext cx="10665106" cy="4679576"/>
          </a:xfrm>
        </p:spPr>
        <p:txBody>
          <a:bodyPr>
            <a:normAutofit fontScale="92500"/>
          </a:bodyPr>
          <a:lstStyle/>
          <a:p>
            <a:pPr algn="just"/>
            <a:r>
              <a:rPr lang="en-US" sz="2200" dirty="0" smtClean="0">
                <a:solidFill>
                  <a:schemeClr val="bg1"/>
                </a:solidFill>
              </a:rPr>
              <a:t>The belief in the existence of the Supreme Being or deities. Can be further classified into:</a:t>
            </a:r>
          </a:p>
          <a:p>
            <a:pPr lvl="1" algn="just"/>
            <a:r>
              <a:rPr lang="en-US" sz="2200" dirty="0">
                <a:solidFill>
                  <a:schemeClr val="bg1"/>
                </a:solidFill>
              </a:rPr>
              <a:t>a</a:t>
            </a:r>
            <a:r>
              <a:rPr lang="en-US" sz="2200" dirty="0" smtClean="0">
                <a:solidFill>
                  <a:schemeClr val="bg1"/>
                </a:solidFill>
              </a:rPr>
              <a:t>. </a:t>
            </a:r>
            <a:r>
              <a:rPr lang="en-US" sz="2200" u="sng" dirty="0" smtClean="0">
                <a:solidFill>
                  <a:schemeClr val="bg1"/>
                </a:solidFill>
              </a:rPr>
              <a:t>Monotheism</a:t>
            </a:r>
            <a:r>
              <a:rPr lang="en-US" sz="2200" dirty="0" smtClean="0">
                <a:solidFill>
                  <a:schemeClr val="bg1"/>
                </a:solidFill>
              </a:rPr>
              <a:t> – the belief in theology that only one god/deity exists. (e.g. Christianity, Judaism, Islam)</a:t>
            </a:r>
          </a:p>
          <a:p>
            <a:pPr lvl="1" algn="just"/>
            <a:r>
              <a:rPr lang="en-US" sz="2200" dirty="0" smtClean="0">
                <a:solidFill>
                  <a:schemeClr val="bg1"/>
                </a:solidFill>
              </a:rPr>
              <a:t>b. </a:t>
            </a:r>
            <a:r>
              <a:rPr lang="en-US" sz="2200" u="sng" dirty="0" smtClean="0">
                <a:solidFill>
                  <a:schemeClr val="bg1"/>
                </a:solidFill>
              </a:rPr>
              <a:t>Polytheism</a:t>
            </a:r>
            <a:r>
              <a:rPr lang="en-US" sz="2200" dirty="0" smtClean="0">
                <a:solidFill>
                  <a:schemeClr val="bg1"/>
                </a:solidFill>
              </a:rPr>
              <a:t> – the belief that there is more than one god. (e.g. the belief system of the ancient Greeks and Romans)</a:t>
            </a:r>
          </a:p>
          <a:p>
            <a:pPr lvl="1" algn="just"/>
            <a:r>
              <a:rPr lang="en-US" sz="2200" dirty="0" smtClean="0">
                <a:solidFill>
                  <a:schemeClr val="bg1"/>
                </a:solidFill>
              </a:rPr>
              <a:t>c. </a:t>
            </a:r>
            <a:r>
              <a:rPr lang="en-US" sz="2200" u="sng" dirty="0" smtClean="0">
                <a:solidFill>
                  <a:schemeClr val="bg1"/>
                </a:solidFill>
              </a:rPr>
              <a:t>Deism</a:t>
            </a:r>
            <a:r>
              <a:rPr lang="en-US" sz="2200" dirty="0" smtClean="0">
                <a:solidFill>
                  <a:schemeClr val="bg1"/>
                </a:solidFill>
              </a:rPr>
              <a:t> – the belief that one God exists and created the world, but that the creator does not alter the original plan for the universe. (Neo-Platonists)</a:t>
            </a:r>
          </a:p>
          <a:p>
            <a:pPr lvl="1" algn="just"/>
            <a:r>
              <a:rPr lang="en-US" sz="2200" dirty="0" smtClean="0">
                <a:solidFill>
                  <a:schemeClr val="bg1"/>
                </a:solidFill>
              </a:rPr>
              <a:t>d. </a:t>
            </a:r>
            <a:r>
              <a:rPr lang="en-US" sz="2200" u="sng" dirty="0" smtClean="0">
                <a:solidFill>
                  <a:schemeClr val="bg1"/>
                </a:solidFill>
              </a:rPr>
              <a:t>Animism</a:t>
            </a:r>
            <a:r>
              <a:rPr lang="en-US" sz="2200" dirty="0" smtClean="0">
                <a:solidFill>
                  <a:schemeClr val="bg1"/>
                </a:solidFill>
              </a:rPr>
              <a:t> – the belief that non-human beings are divine (animals, plants, natural world). (Indigenous worship nature, Shintoism)</a:t>
            </a:r>
          </a:p>
          <a:p>
            <a:pPr lvl="1" algn="just"/>
            <a:r>
              <a:rPr lang="en-US" sz="2200" dirty="0" smtClean="0">
                <a:solidFill>
                  <a:schemeClr val="bg1"/>
                </a:solidFill>
              </a:rPr>
              <a:t>e. </a:t>
            </a:r>
            <a:r>
              <a:rPr lang="en-US" sz="2200" u="sng" dirty="0" smtClean="0">
                <a:solidFill>
                  <a:schemeClr val="bg1"/>
                </a:solidFill>
              </a:rPr>
              <a:t>Pantheism</a:t>
            </a:r>
            <a:r>
              <a:rPr lang="en-US" sz="2200" dirty="0" smtClean="0">
                <a:solidFill>
                  <a:schemeClr val="bg1"/>
                </a:solidFill>
              </a:rPr>
              <a:t> – the belief that the physical universe is equivalent to god, and that there is no division between the Creator and the substance of its creation.</a:t>
            </a:r>
          </a:p>
          <a:p>
            <a:pPr lvl="1" algn="just"/>
            <a:endParaRPr lang="en-US" sz="2200" dirty="0" smtClean="0">
              <a:solidFill>
                <a:schemeClr val="bg1"/>
              </a:solidFill>
            </a:endParaRPr>
          </a:p>
        </p:txBody>
      </p:sp>
    </p:spTree>
    <p:extLst>
      <p:ext uri="{BB962C8B-B14F-4D97-AF65-F5344CB8AC3E}">
        <p14:creationId xmlns:p14="http://schemas.microsoft.com/office/powerpoint/2010/main" val="23443324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85800"/>
            <a:ext cx="10665106" cy="1507067"/>
          </a:xfrm>
        </p:spPr>
        <p:txBody>
          <a:bodyPr/>
          <a:lstStyle/>
          <a:p>
            <a:r>
              <a:rPr lang="en-US" b="1" dirty="0"/>
              <a:t>Types of religions</a:t>
            </a:r>
          </a:p>
        </p:txBody>
      </p:sp>
      <p:sp>
        <p:nvSpPr>
          <p:cNvPr id="3" name="Content Placeholder 2"/>
          <p:cNvSpPr>
            <a:spLocks noGrp="1"/>
          </p:cNvSpPr>
          <p:nvPr>
            <p:ph idx="1"/>
          </p:nvPr>
        </p:nvSpPr>
        <p:spPr>
          <a:xfrm>
            <a:off x="684212" y="2272554"/>
            <a:ext cx="10665106" cy="3615267"/>
          </a:xfrm>
        </p:spPr>
        <p:txBody>
          <a:bodyPr>
            <a:normAutofit fontScale="85000" lnSpcReduction="10000"/>
          </a:bodyPr>
          <a:lstStyle/>
          <a:p>
            <a:pPr algn="just"/>
            <a:r>
              <a:rPr lang="en-US" sz="2200" b="1" dirty="0" smtClean="0">
                <a:solidFill>
                  <a:schemeClr val="bg1"/>
                </a:solidFill>
              </a:rPr>
              <a:t>Agnosticism</a:t>
            </a:r>
            <a:r>
              <a:rPr lang="en-US" sz="2200" dirty="0" smtClean="0">
                <a:solidFill>
                  <a:schemeClr val="bg1"/>
                </a:solidFill>
              </a:rPr>
              <a:t> – the view that the existence of God, of the divine or the supernatural is unknown or unknowable</a:t>
            </a:r>
            <a:endParaRPr lang="en-US" sz="2200" b="1" dirty="0" smtClean="0">
              <a:solidFill>
                <a:schemeClr val="bg1"/>
              </a:solidFill>
            </a:endParaRPr>
          </a:p>
          <a:p>
            <a:pPr marL="0" indent="0" algn="just">
              <a:buNone/>
            </a:pPr>
            <a:endParaRPr lang="en-US" sz="2200" dirty="0" smtClean="0">
              <a:solidFill>
                <a:schemeClr val="bg1"/>
              </a:solidFill>
            </a:endParaRPr>
          </a:p>
          <a:p>
            <a:pPr algn="just"/>
            <a:r>
              <a:rPr lang="en-US" sz="2200" b="1" dirty="0" smtClean="0">
                <a:solidFill>
                  <a:schemeClr val="bg1"/>
                </a:solidFill>
              </a:rPr>
              <a:t>Atheism</a:t>
            </a:r>
            <a:r>
              <a:rPr lang="en-US" sz="2200" dirty="0" smtClean="0">
                <a:solidFill>
                  <a:schemeClr val="bg1"/>
                </a:solidFill>
              </a:rPr>
              <a:t> – the absence of belief in the existence of deities. Atheism is contrasted with theism, which, in its most general form, is the belief that at least one deity exists. </a:t>
            </a:r>
          </a:p>
          <a:p>
            <a:pPr algn="just"/>
            <a:endParaRPr lang="en-US" sz="2200" b="1" dirty="0">
              <a:solidFill>
                <a:schemeClr val="bg1"/>
              </a:solidFill>
            </a:endParaRPr>
          </a:p>
          <a:p>
            <a:pPr marL="0" indent="0" algn="just">
              <a:buNone/>
            </a:pPr>
            <a:r>
              <a:rPr lang="en-US" sz="2400" dirty="0">
                <a:solidFill>
                  <a:schemeClr val="bg1"/>
                </a:solidFill>
              </a:rPr>
              <a:t>While typically not an organized group, atheists and agnostics represent a significant portion of the population. It is important to recognize that being a nonbeliever in a divine entity does not mean the individual subscribes to no morality. Indeed, many Nobel Peace Prize winners and other great humanitarians over the centuries would have classified themselves as atheists or agnostics.</a:t>
            </a:r>
            <a:endParaRPr lang="en-US" sz="2200" b="1" dirty="0" smtClean="0">
              <a:solidFill>
                <a:schemeClr val="bg1"/>
              </a:solidFill>
            </a:endParaRPr>
          </a:p>
        </p:txBody>
      </p:sp>
    </p:spTree>
    <p:extLst>
      <p:ext uri="{BB962C8B-B14F-4D97-AF65-F5344CB8AC3E}">
        <p14:creationId xmlns:p14="http://schemas.microsoft.com/office/powerpoint/2010/main" val="29639761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67238"/>
            <a:ext cx="10665106" cy="1507067"/>
          </a:xfrm>
        </p:spPr>
        <p:txBody>
          <a:bodyPr/>
          <a:lstStyle/>
          <a:p>
            <a:r>
              <a:rPr lang="en-US" b="1" dirty="0" smtClean="0"/>
              <a:t>TOP Five Religion in the world</a:t>
            </a:r>
            <a:endParaRPr lang="en-US" b="1" dirty="0"/>
          </a:p>
        </p:txBody>
      </p:sp>
      <p:sp>
        <p:nvSpPr>
          <p:cNvPr id="3" name="Content Placeholder 2"/>
          <p:cNvSpPr>
            <a:spLocks noGrp="1"/>
          </p:cNvSpPr>
          <p:nvPr>
            <p:ph idx="1"/>
          </p:nvPr>
        </p:nvSpPr>
        <p:spPr>
          <a:xfrm>
            <a:off x="684212" y="2272554"/>
            <a:ext cx="10665106" cy="3615267"/>
          </a:xfrm>
        </p:spPr>
        <p:txBody>
          <a:bodyPr>
            <a:noAutofit/>
          </a:bodyPr>
          <a:lstStyle/>
          <a:p>
            <a:pPr algn="just"/>
            <a:r>
              <a:rPr lang="en-US" sz="2400" dirty="0">
                <a:solidFill>
                  <a:schemeClr val="bg1"/>
                </a:solidFill>
              </a:rPr>
              <a:t>Religions have emerged and developed across the world. Some have been short-lived, while others have persisted and grown. In this section, we will </a:t>
            </a:r>
            <a:r>
              <a:rPr lang="en-US" sz="2400" dirty="0" smtClean="0">
                <a:solidFill>
                  <a:schemeClr val="bg1"/>
                </a:solidFill>
              </a:rPr>
              <a:t>explore the top five </a:t>
            </a:r>
            <a:r>
              <a:rPr lang="en-US" sz="2400" dirty="0">
                <a:solidFill>
                  <a:schemeClr val="bg1"/>
                </a:solidFill>
              </a:rPr>
              <a:t>of the world’s major </a:t>
            </a:r>
            <a:r>
              <a:rPr lang="en-US" sz="2400" dirty="0" smtClean="0">
                <a:solidFill>
                  <a:schemeClr val="bg1"/>
                </a:solidFill>
              </a:rPr>
              <a:t>religions (based on number of members).</a:t>
            </a:r>
          </a:p>
          <a:p>
            <a:pPr marL="0" indent="0" algn="just">
              <a:buNone/>
            </a:pPr>
            <a:endParaRPr lang="en-US" sz="2400" dirty="0" smtClean="0">
              <a:solidFill>
                <a:schemeClr val="bg1"/>
              </a:solidFill>
            </a:endParaRPr>
          </a:p>
          <a:p>
            <a:pPr marL="1196975" algn="just"/>
            <a:r>
              <a:rPr lang="en-US" sz="2400" dirty="0" smtClean="0">
                <a:solidFill>
                  <a:schemeClr val="bg1"/>
                </a:solidFill>
              </a:rPr>
              <a:t>1. Christianity (Roman Catholic, Greek Orthodox, Protestants)</a:t>
            </a:r>
          </a:p>
          <a:p>
            <a:pPr marL="1196975" algn="just"/>
            <a:r>
              <a:rPr lang="en-US" sz="2400" dirty="0" smtClean="0">
                <a:solidFill>
                  <a:schemeClr val="bg1"/>
                </a:solidFill>
              </a:rPr>
              <a:t>2. Islam (Sunni, Shia)</a:t>
            </a:r>
          </a:p>
          <a:p>
            <a:pPr marL="1196975" algn="just"/>
            <a:r>
              <a:rPr lang="en-US" sz="2400" dirty="0" smtClean="0">
                <a:solidFill>
                  <a:schemeClr val="bg1"/>
                </a:solidFill>
              </a:rPr>
              <a:t>3. Hinduism</a:t>
            </a:r>
          </a:p>
          <a:p>
            <a:pPr marL="1196975" algn="just"/>
            <a:r>
              <a:rPr lang="en-US" sz="2400" dirty="0" smtClean="0">
                <a:solidFill>
                  <a:schemeClr val="bg1"/>
                </a:solidFill>
              </a:rPr>
              <a:t>4. Buddhism</a:t>
            </a:r>
          </a:p>
          <a:p>
            <a:pPr marL="1196975" algn="just"/>
            <a:r>
              <a:rPr lang="en-US" sz="2400" dirty="0" smtClean="0">
                <a:solidFill>
                  <a:schemeClr val="bg1"/>
                </a:solidFill>
              </a:rPr>
              <a:t>5. Judaism</a:t>
            </a:r>
          </a:p>
        </p:txBody>
      </p:sp>
    </p:spTree>
    <p:extLst>
      <p:ext uri="{BB962C8B-B14F-4D97-AF65-F5344CB8AC3E}">
        <p14:creationId xmlns:p14="http://schemas.microsoft.com/office/powerpoint/2010/main" val="19473702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Christianity </a:t>
            </a:r>
            <a:endParaRPr lang="en-US" b="1" dirty="0"/>
          </a:p>
        </p:txBody>
      </p:sp>
      <p:sp>
        <p:nvSpPr>
          <p:cNvPr id="3" name="Content Placeholder 2"/>
          <p:cNvSpPr>
            <a:spLocks noGrp="1"/>
          </p:cNvSpPr>
          <p:nvPr>
            <p:ph idx="1"/>
          </p:nvPr>
        </p:nvSpPr>
        <p:spPr>
          <a:xfrm>
            <a:off x="684212" y="1748118"/>
            <a:ext cx="10665106" cy="4679576"/>
          </a:xfrm>
        </p:spPr>
        <p:txBody>
          <a:bodyPr>
            <a:normAutofit fontScale="85000" lnSpcReduction="10000"/>
          </a:bodyPr>
          <a:lstStyle/>
          <a:p>
            <a:pPr algn="just"/>
            <a:r>
              <a:rPr lang="en-US" sz="2400" dirty="0" smtClean="0">
                <a:solidFill>
                  <a:schemeClr val="bg1"/>
                </a:solidFill>
              </a:rPr>
              <a:t>Today </a:t>
            </a:r>
            <a:r>
              <a:rPr lang="en-US" sz="2400" dirty="0">
                <a:solidFill>
                  <a:schemeClr val="bg1"/>
                </a:solidFill>
              </a:rPr>
              <a:t>the largest religion in the world, Christianity began 2,000 years ago in Palestine, with Jesus of Nazareth, a charismatic leader who taught his followers about </a:t>
            </a:r>
            <a:r>
              <a:rPr lang="en-US" sz="2400" i="1" dirty="0">
                <a:solidFill>
                  <a:schemeClr val="bg1"/>
                </a:solidFill>
              </a:rPr>
              <a:t>caritas</a:t>
            </a:r>
            <a:r>
              <a:rPr lang="en-US" sz="2400" dirty="0">
                <a:solidFill>
                  <a:schemeClr val="bg1"/>
                </a:solidFill>
              </a:rPr>
              <a:t> (charity) or treating others as you would like to be treated yourself</a:t>
            </a:r>
            <a:r>
              <a:rPr lang="en-US" sz="2400" dirty="0" smtClean="0">
                <a:solidFill>
                  <a:schemeClr val="bg1"/>
                </a:solidFill>
              </a:rPr>
              <a:t>.</a:t>
            </a:r>
          </a:p>
          <a:p>
            <a:pPr algn="just"/>
            <a:r>
              <a:rPr lang="en-US" sz="2400" dirty="0">
                <a:solidFill>
                  <a:schemeClr val="bg1"/>
                </a:solidFill>
              </a:rPr>
              <a:t>The sacred text for Christians is the Bible</a:t>
            </a:r>
            <a:r>
              <a:rPr lang="en-US" sz="2400" dirty="0" smtClean="0">
                <a:solidFill>
                  <a:schemeClr val="bg1"/>
                </a:solidFill>
              </a:rPr>
              <a:t>. </a:t>
            </a:r>
            <a:r>
              <a:rPr lang="en-US" sz="2400" dirty="0">
                <a:solidFill>
                  <a:schemeClr val="bg1"/>
                </a:solidFill>
              </a:rPr>
              <a:t>Different Christian groups have variations among their sacred texts. For instance, Mormons, an established Christian sect, also use the Book of Mormon, which they believe details other parts of Christian doctrine and Jesus’ life that aren’t included in the Bible. Similarly, the Catholic Bible includes the Apocrypha, a collection that, while part of the 1611 King James translation, is no longer included in Protestant versions of the Bible</a:t>
            </a:r>
            <a:r>
              <a:rPr lang="en-US" sz="2400" dirty="0" smtClean="0">
                <a:solidFill>
                  <a:schemeClr val="bg1"/>
                </a:solidFill>
              </a:rPr>
              <a:t>.</a:t>
            </a:r>
          </a:p>
          <a:p>
            <a:pPr algn="just"/>
            <a:r>
              <a:rPr lang="en-US" sz="2400" dirty="0">
                <a:solidFill>
                  <a:schemeClr val="bg1"/>
                </a:solidFill>
              </a:rPr>
              <a:t>Although monotheistic, Christians often describe their god through three manifestations that they call the Holy Trinity: the father (God), the son (Jesus), and the Holy Spirit. The Holy Spirit is a term Christians often use to describe religious experience, or how they feel the presence of the sacred in their lives. </a:t>
            </a:r>
            <a:endParaRPr lang="en-US" sz="2400" dirty="0" smtClean="0">
              <a:solidFill>
                <a:schemeClr val="bg1"/>
              </a:solidFill>
            </a:endParaRPr>
          </a:p>
          <a:p>
            <a:pPr algn="just"/>
            <a:r>
              <a:rPr lang="en-US" sz="2400" dirty="0" smtClean="0">
                <a:solidFill>
                  <a:schemeClr val="bg1"/>
                </a:solidFill>
              </a:rPr>
              <a:t>One </a:t>
            </a:r>
            <a:r>
              <a:rPr lang="en-US" sz="2400" dirty="0">
                <a:solidFill>
                  <a:schemeClr val="bg1"/>
                </a:solidFill>
              </a:rPr>
              <a:t>foundation of Christian doctrine is the Ten Commandments, which decry acts considered sinful, including theft, murder, and adultery.</a:t>
            </a:r>
            <a:endParaRPr lang="en-US" sz="2200" dirty="0" smtClean="0">
              <a:solidFill>
                <a:schemeClr val="bg1"/>
              </a:solidFill>
            </a:endParaRPr>
          </a:p>
        </p:txBody>
      </p:sp>
    </p:spTree>
    <p:extLst>
      <p:ext uri="{BB962C8B-B14F-4D97-AF65-F5344CB8AC3E}">
        <p14:creationId xmlns:p14="http://schemas.microsoft.com/office/powerpoint/2010/main" val="40637721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err="1" smtClean="0"/>
              <a:t>ISlam</a:t>
            </a:r>
            <a:endParaRPr lang="en-US" b="1" dirty="0"/>
          </a:p>
        </p:txBody>
      </p:sp>
      <p:sp>
        <p:nvSpPr>
          <p:cNvPr id="3" name="Content Placeholder 2"/>
          <p:cNvSpPr>
            <a:spLocks noGrp="1"/>
          </p:cNvSpPr>
          <p:nvPr>
            <p:ph idx="1"/>
          </p:nvPr>
        </p:nvSpPr>
        <p:spPr>
          <a:xfrm>
            <a:off x="684212" y="1748118"/>
            <a:ext cx="10665106" cy="4679576"/>
          </a:xfrm>
        </p:spPr>
        <p:txBody>
          <a:bodyPr>
            <a:normAutofit lnSpcReduction="10000"/>
          </a:bodyPr>
          <a:lstStyle/>
          <a:p>
            <a:pPr fontAlgn="base"/>
            <a:r>
              <a:rPr lang="en-US" sz="2400" dirty="0">
                <a:solidFill>
                  <a:schemeClr val="bg1"/>
                </a:solidFill>
              </a:rPr>
              <a:t>Islam is monotheistic religion and it follows the teaching of the prophet Muhammad, born in Mecca, Saudi Arabia, in 570 C.E. Muhammad is seen only as a prophet, not as a divine being, and he is believed to be the messenger of Allah (God), who is divine. Islam means “peace” and “submission.” </a:t>
            </a:r>
            <a:endParaRPr lang="en-US" sz="2400" dirty="0" smtClean="0">
              <a:solidFill>
                <a:schemeClr val="bg1"/>
              </a:solidFill>
            </a:endParaRPr>
          </a:p>
          <a:p>
            <a:pPr fontAlgn="base"/>
            <a:r>
              <a:rPr lang="en-US" sz="2400" dirty="0" smtClean="0">
                <a:solidFill>
                  <a:schemeClr val="bg1"/>
                </a:solidFill>
              </a:rPr>
              <a:t>The </a:t>
            </a:r>
            <a:r>
              <a:rPr lang="en-US" sz="2400" dirty="0">
                <a:solidFill>
                  <a:schemeClr val="bg1"/>
                </a:solidFill>
              </a:rPr>
              <a:t>followers of </a:t>
            </a:r>
            <a:r>
              <a:rPr lang="en-US" sz="2400" dirty="0" smtClean="0">
                <a:solidFill>
                  <a:schemeClr val="bg1"/>
                </a:solidFill>
              </a:rPr>
              <a:t>Islam are </a:t>
            </a:r>
            <a:r>
              <a:rPr lang="en-US" sz="2400" dirty="0">
                <a:solidFill>
                  <a:schemeClr val="bg1"/>
                </a:solidFill>
              </a:rPr>
              <a:t>called Muslims.</a:t>
            </a:r>
          </a:p>
          <a:p>
            <a:pPr fontAlgn="base"/>
            <a:r>
              <a:rPr lang="en-US" sz="2400" dirty="0" smtClean="0">
                <a:solidFill>
                  <a:schemeClr val="bg1"/>
                </a:solidFill>
              </a:rPr>
              <a:t>The </a:t>
            </a:r>
            <a:r>
              <a:rPr lang="en-US" sz="2400" dirty="0">
                <a:solidFill>
                  <a:schemeClr val="bg1"/>
                </a:solidFill>
              </a:rPr>
              <a:t>sacred text for Muslims is the Qur’an (or Koran). </a:t>
            </a:r>
            <a:endParaRPr lang="en-US" sz="2400" dirty="0" smtClean="0">
              <a:solidFill>
                <a:schemeClr val="bg1"/>
              </a:solidFill>
            </a:endParaRPr>
          </a:p>
          <a:p>
            <a:pPr fontAlgn="base"/>
            <a:r>
              <a:rPr lang="en-US" sz="2400" dirty="0" smtClean="0">
                <a:solidFill>
                  <a:schemeClr val="bg1"/>
                </a:solidFill>
              </a:rPr>
              <a:t>As </a:t>
            </a:r>
            <a:r>
              <a:rPr lang="en-US" sz="2400" dirty="0">
                <a:solidFill>
                  <a:schemeClr val="bg1"/>
                </a:solidFill>
              </a:rPr>
              <a:t>with Christianity’s Old Testament, many of the Qur’an stories are shared with the Jewish faith</a:t>
            </a:r>
            <a:r>
              <a:rPr lang="en-US" sz="2400" dirty="0" smtClean="0">
                <a:solidFill>
                  <a:schemeClr val="bg1"/>
                </a:solidFill>
              </a:rPr>
              <a:t>.</a:t>
            </a:r>
          </a:p>
          <a:p>
            <a:pPr fontAlgn="base"/>
            <a:r>
              <a:rPr lang="en-US" sz="2400" dirty="0" smtClean="0">
                <a:solidFill>
                  <a:schemeClr val="bg1"/>
                </a:solidFill>
              </a:rPr>
              <a:t> Divisions exist within Islam, but all Muslims are guided by five beliefs or practices, often called “pillars”</a:t>
            </a:r>
            <a:endParaRPr lang="en-US" sz="2200" dirty="0" smtClean="0">
              <a:solidFill>
                <a:schemeClr val="bg1"/>
              </a:solidFill>
            </a:endParaRPr>
          </a:p>
        </p:txBody>
      </p:sp>
    </p:spTree>
    <p:extLst>
      <p:ext uri="{BB962C8B-B14F-4D97-AF65-F5344CB8AC3E}">
        <p14:creationId xmlns:p14="http://schemas.microsoft.com/office/powerpoint/2010/main" val="14026755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Islam</a:t>
            </a:r>
            <a:endParaRPr lang="en-US" b="1" dirty="0"/>
          </a:p>
        </p:txBody>
      </p:sp>
      <p:pic>
        <p:nvPicPr>
          <p:cNvPr id="4" name="Picture 3">
            <a:extLst>
              <a:ext uri="{FF2B5EF4-FFF2-40B4-BE49-F238E27FC236}">
                <a16:creationId xmlns="" xmlns:a16="http://schemas.microsoft.com/office/drawing/2014/main" id="{1321F6FF-BE38-42EC-949C-BE9102E86439}"/>
              </a:ext>
            </a:extLst>
          </p:cNvPr>
          <p:cNvPicPr>
            <a:picLocks noChangeAspect="1"/>
          </p:cNvPicPr>
          <p:nvPr/>
        </p:nvPicPr>
        <p:blipFill>
          <a:blip r:embed="rId2"/>
          <a:stretch>
            <a:fillRect/>
          </a:stretch>
        </p:blipFill>
        <p:spPr>
          <a:xfrm>
            <a:off x="1" y="1398493"/>
            <a:ext cx="12192000" cy="5217459"/>
          </a:xfrm>
          <a:prstGeom prst="rect">
            <a:avLst/>
          </a:prstGeom>
        </p:spPr>
      </p:pic>
    </p:spTree>
    <p:extLst>
      <p:ext uri="{BB962C8B-B14F-4D97-AF65-F5344CB8AC3E}">
        <p14:creationId xmlns:p14="http://schemas.microsoft.com/office/powerpoint/2010/main" val="17835776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Hinduism</a:t>
            </a:r>
            <a:endParaRPr lang="en-US" b="1" dirty="0"/>
          </a:p>
        </p:txBody>
      </p:sp>
      <p:sp>
        <p:nvSpPr>
          <p:cNvPr id="3" name="Content Placeholder 2"/>
          <p:cNvSpPr>
            <a:spLocks noGrp="1"/>
          </p:cNvSpPr>
          <p:nvPr>
            <p:ph idx="1"/>
          </p:nvPr>
        </p:nvSpPr>
        <p:spPr>
          <a:xfrm>
            <a:off x="684212" y="1748118"/>
            <a:ext cx="10665106" cy="4679576"/>
          </a:xfrm>
        </p:spPr>
        <p:txBody>
          <a:bodyPr>
            <a:normAutofit fontScale="85000" lnSpcReduction="10000"/>
          </a:bodyPr>
          <a:lstStyle/>
          <a:p>
            <a:pPr fontAlgn="base"/>
            <a:r>
              <a:rPr lang="en-US" sz="2400" dirty="0">
                <a:solidFill>
                  <a:schemeClr val="bg1"/>
                </a:solidFill>
              </a:rPr>
              <a:t>The oldest religion in the world, Hinduism originated in the Indus River Valley about 4,500 years ago in what is now modern-day northwest India and Pakistan. It arose contemporaneously with ancient Egyptian and Mesopotamian cultures. </a:t>
            </a:r>
            <a:endParaRPr lang="en-US" sz="2400" dirty="0" smtClean="0">
              <a:solidFill>
                <a:schemeClr val="bg1"/>
              </a:solidFill>
            </a:endParaRPr>
          </a:p>
          <a:p>
            <a:pPr fontAlgn="base"/>
            <a:r>
              <a:rPr lang="en-US" sz="2400" dirty="0" smtClean="0">
                <a:solidFill>
                  <a:schemeClr val="bg1"/>
                </a:solidFill>
              </a:rPr>
              <a:t>With </a:t>
            </a:r>
            <a:r>
              <a:rPr lang="en-US" sz="2400" dirty="0">
                <a:solidFill>
                  <a:schemeClr val="bg1"/>
                </a:solidFill>
              </a:rPr>
              <a:t>roughly one billion followers, Hinduism is the third-largest of the world’s religions. </a:t>
            </a:r>
            <a:endParaRPr lang="en-US" sz="2400" dirty="0" smtClean="0">
              <a:solidFill>
                <a:schemeClr val="bg1"/>
              </a:solidFill>
            </a:endParaRPr>
          </a:p>
          <a:p>
            <a:pPr fontAlgn="base"/>
            <a:r>
              <a:rPr lang="en-US" sz="2400" dirty="0" smtClean="0">
                <a:solidFill>
                  <a:schemeClr val="bg1"/>
                </a:solidFill>
              </a:rPr>
              <a:t>Hindus </a:t>
            </a:r>
            <a:r>
              <a:rPr lang="en-US" sz="2400" dirty="0">
                <a:solidFill>
                  <a:schemeClr val="bg1"/>
                </a:solidFill>
              </a:rPr>
              <a:t>believe in a divine power that can manifest as different entities. Three main incarnations—Brahma, Vishnu, and Shiva—are sometimes compared to the manifestations of the divine in the Christian Trinity.</a:t>
            </a:r>
          </a:p>
          <a:p>
            <a:pPr fontAlgn="base"/>
            <a:r>
              <a:rPr lang="en-US" sz="2400" dirty="0">
                <a:solidFill>
                  <a:schemeClr val="bg1"/>
                </a:solidFill>
              </a:rPr>
              <a:t>Multiple sacred texts, collectively called the Vedas, contain hymns and rituals from ancient India and are mostly written in </a:t>
            </a:r>
            <a:r>
              <a:rPr lang="en-US" sz="2400" dirty="0" smtClean="0">
                <a:solidFill>
                  <a:schemeClr val="bg1"/>
                </a:solidFill>
              </a:rPr>
              <a:t>Sanskrit.</a:t>
            </a:r>
          </a:p>
          <a:p>
            <a:pPr fontAlgn="base"/>
            <a:r>
              <a:rPr lang="en-US" sz="2400" dirty="0" smtClean="0">
                <a:solidFill>
                  <a:schemeClr val="bg1"/>
                </a:solidFill>
              </a:rPr>
              <a:t>Hindus </a:t>
            </a:r>
            <a:r>
              <a:rPr lang="en-US" sz="2400" dirty="0">
                <a:solidFill>
                  <a:schemeClr val="bg1"/>
                </a:solidFill>
              </a:rPr>
              <a:t>generally believe in a set of principles called dharma, which refer to one’s duty in the world that corresponds with “right” actions. Hindus also believe in karma, or the notion that spiritual ramifications of one’s actions are balanced cyclically in this life or a future life (reincarnation</a:t>
            </a:r>
            <a:r>
              <a:rPr lang="en-US" sz="2400" dirty="0" smtClean="0">
                <a:solidFill>
                  <a:schemeClr val="bg1"/>
                </a:solidFill>
              </a:rPr>
              <a:t>).</a:t>
            </a:r>
            <a:endParaRPr lang="en-US" sz="2400" dirty="0">
              <a:solidFill>
                <a:schemeClr val="bg1"/>
              </a:solidFill>
            </a:endParaRPr>
          </a:p>
        </p:txBody>
      </p:sp>
    </p:spTree>
    <p:extLst>
      <p:ext uri="{BB962C8B-B14F-4D97-AF65-F5344CB8AC3E}">
        <p14:creationId xmlns:p14="http://schemas.microsoft.com/office/powerpoint/2010/main" val="12076309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Buddhism</a:t>
            </a:r>
            <a:endParaRPr lang="en-US" b="1" dirty="0"/>
          </a:p>
        </p:txBody>
      </p:sp>
      <p:sp>
        <p:nvSpPr>
          <p:cNvPr id="3" name="Content Placeholder 2"/>
          <p:cNvSpPr>
            <a:spLocks noGrp="1"/>
          </p:cNvSpPr>
          <p:nvPr>
            <p:ph idx="1"/>
          </p:nvPr>
        </p:nvSpPr>
        <p:spPr>
          <a:xfrm>
            <a:off x="684212" y="1748118"/>
            <a:ext cx="10665106" cy="4679576"/>
          </a:xfrm>
        </p:spPr>
        <p:txBody>
          <a:bodyPr>
            <a:normAutofit fontScale="85000" lnSpcReduction="10000"/>
          </a:bodyPr>
          <a:lstStyle/>
          <a:p>
            <a:pPr fontAlgn="base"/>
            <a:r>
              <a:rPr lang="en-US" sz="2400" dirty="0">
                <a:solidFill>
                  <a:schemeClr val="bg1"/>
                </a:solidFill>
              </a:rPr>
              <a:t>Buddhism was founded by Siddhartha Gautama around 500 B.C.E. Siddhartha was said to have given up a comfortable, upper-class life to follow one of poverty and spiritual devotion. At the age of thirty-five, he famously meditated under a sacred fig tree and vowed not to rise before he achieved enlightenment (</a:t>
            </a:r>
            <a:r>
              <a:rPr lang="en-US" sz="2400" i="1" dirty="0" err="1">
                <a:solidFill>
                  <a:schemeClr val="bg1"/>
                </a:solidFill>
              </a:rPr>
              <a:t>bodhi</a:t>
            </a:r>
            <a:r>
              <a:rPr lang="en-US" sz="2400" dirty="0">
                <a:solidFill>
                  <a:schemeClr val="bg1"/>
                </a:solidFill>
              </a:rPr>
              <a:t>). After this experience, he became known as Buddha, or “enlightened one.” Followers were drawn to Buddha’s teachings and the practice of meditation, and he later established a monastic order.</a:t>
            </a:r>
          </a:p>
          <a:p>
            <a:pPr fontAlgn="base"/>
            <a:r>
              <a:rPr lang="en-US" sz="2400" dirty="0">
                <a:solidFill>
                  <a:schemeClr val="bg1"/>
                </a:solidFill>
              </a:rPr>
              <a:t>Buddha’s teachings encourage Buddhists to lead a moral life by accepting the four Noble Truths: 1) life is suffering, 2) suffering arises from attachment to desires, 3) suffering ceases when attachment to desires ceases, and 4) freedom from suffering is possible by following the “middle way.” </a:t>
            </a:r>
            <a:endParaRPr lang="en-US" sz="2400" dirty="0" smtClean="0">
              <a:solidFill>
                <a:schemeClr val="bg1"/>
              </a:solidFill>
            </a:endParaRPr>
          </a:p>
          <a:p>
            <a:pPr fontAlgn="base"/>
            <a:r>
              <a:rPr lang="en-US" sz="2400" dirty="0" smtClean="0">
                <a:solidFill>
                  <a:schemeClr val="bg1"/>
                </a:solidFill>
              </a:rPr>
              <a:t>The </a:t>
            </a:r>
            <a:r>
              <a:rPr lang="en-US" sz="2400" dirty="0">
                <a:solidFill>
                  <a:schemeClr val="bg1"/>
                </a:solidFill>
              </a:rPr>
              <a:t>concept of the “middle way” is central to Buddhist thinking, which encourages people to live in the present and to practice acceptance of others (Smith 1991). Buddhism also tends to deemphasize the role of a godhead, instead stressing the importance of personal responsibility (Craig 2002</a:t>
            </a:r>
            <a:r>
              <a:rPr lang="en-US" sz="2400" dirty="0" smtClean="0">
                <a:solidFill>
                  <a:schemeClr val="bg1"/>
                </a:solidFill>
              </a:rPr>
              <a:t>).</a:t>
            </a:r>
            <a:endParaRPr lang="en-US" sz="2400" dirty="0">
              <a:solidFill>
                <a:schemeClr val="bg1"/>
              </a:solidFill>
            </a:endParaRPr>
          </a:p>
        </p:txBody>
      </p:sp>
    </p:spTree>
    <p:extLst>
      <p:ext uri="{BB962C8B-B14F-4D97-AF65-F5344CB8AC3E}">
        <p14:creationId xmlns:p14="http://schemas.microsoft.com/office/powerpoint/2010/main" val="12819415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Judaism</a:t>
            </a:r>
            <a:endParaRPr lang="en-US" b="1" dirty="0"/>
          </a:p>
        </p:txBody>
      </p:sp>
      <p:sp>
        <p:nvSpPr>
          <p:cNvPr id="3" name="Content Placeholder 2"/>
          <p:cNvSpPr>
            <a:spLocks noGrp="1"/>
          </p:cNvSpPr>
          <p:nvPr>
            <p:ph idx="1"/>
          </p:nvPr>
        </p:nvSpPr>
        <p:spPr>
          <a:xfrm>
            <a:off x="684212" y="1748118"/>
            <a:ext cx="10665106" cy="4679576"/>
          </a:xfrm>
        </p:spPr>
        <p:txBody>
          <a:bodyPr>
            <a:normAutofit/>
          </a:bodyPr>
          <a:lstStyle/>
          <a:p>
            <a:pPr fontAlgn="base"/>
            <a:r>
              <a:rPr lang="en-US" sz="2400" dirty="0" smtClean="0">
                <a:solidFill>
                  <a:schemeClr val="bg1"/>
                </a:solidFill>
              </a:rPr>
              <a:t>After </a:t>
            </a:r>
            <a:r>
              <a:rPr lang="en-US" sz="2400" dirty="0">
                <a:solidFill>
                  <a:schemeClr val="bg1"/>
                </a:solidFill>
              </a:rPr>
              <a:t>their Exodus from Egypt in the thirteenth century B.C.E., Jews, a nomadic society, became monotheistic, worshipping only one God</a:t>
            </a:r>
            <a:r>
              <a:rPr lang="en-US" sz="2400" dirty="0" smtClean="0">
                <a:solidFill>
                  <a:schemeClr val="bg1"/>
                </a:solidFill>
              </a:rPr>
              <a:t>.</a:t>
            </a:r>
          </a:p>
          <a:p>
            <a:pPr fontAlgn="base"/>
            <a:r>
              <a:rPr lang="en-US" sz="2400" dirty="0" smtClean="0">
                <a:solidFill>
                  <a:schemeClr val="bg1"/>
                </a:solidFill>
              </a:rPr>
              <a:t>The </a:t>
            </a:r>
            <a:r>
              <a:rPr lang="en-US" sz="2400" dirty="0">
                <a:solidFill>
                  <a:schemeClr val="bg1"/>
                </a:solidFill>
              </a:rPr>
              <a:t>Jews’ covenant, or promise of a special relationship with Yahweh (God), is an important element of </a:t>
            </a:r>
            <a:r>
              <a:rPr lang="en-US" sz="2400" dirty="0" smtClean="0">
                <a:solidFill>
                  <a:schemeClr val="bg1"/>
                </a:solidFill>
              </a:rPr>
              <a:t>Judaism.</a:t>
            </a:r>
          </a:p>
          <a:p>
            <a:pPr fontAlgn="base"/>
            <a:r>
              <a:rPr lang="en-US" sz="2400" dirty="0" smtClean="0">
                <a:solidFill>
                  <a:schemeClr val="bg1"/>
                </a:solidFill>
              </a:rPr>
              <a:t>Their </a:t>
            </a:r>
            <a:r>
              <a:rPr lang="en-US" sz="2400" dirty="0">
                <a:solidFill>
                  <a:schemeClr val="bg1"/>
                </a:solidFill>
              </a:rPr>
              <a:t>sacred text is the Torah, which Christians also follow as the first five books of the Bible. Talmud refers to a collection of sacred Jewish oral interpretation of the </a:t>
            </a:r>
            <a:r>
              <a:rPr lang="en-US" sz="2400" dirty="0" smtClean="0">
                <a:solidFill>
                  <a:schemeClr val="bg1"/>
                </a:solidFill>
              </a:rPr>
              <a:t>Torah.</a:t>
            </a:r>
          </a:p>
          <a:p>
            <a:pPr fontAlgn="base"/>
            <a:r>
              <a:rPr lang="en-US" sz="2400" dirty="0" smtClean="0">
                <a:solidFill>
                  <a:schemeClr val="bg1"/>
                </a:solidFill>
              </a:rPr>
              <a:t>Jews </a:t>
            </a:r>
            <a:r>
              <a:rPr lang="en-US" sz="2400" dirty="0">
                <a:solidFill>
                  <a:schemeClr val="bg1"/>
                </a:solidFill>
              </a:rPr>
              <a:t>emphasize moral behavior and action in this world as opposed to beliefs or personal salvation in the next world</a:t>
            </a:r>
            <a:r>
              <a:rPr lang="en-US" sz="2400" dirty="0" smtClean="0">
                <a:solidFill>
                  <a:schemeClr val="bg1"/>
                </a:solidFill>
              </a:rPr>
              <a:t>.</a:t>
            </a:r>
            <a:endParaRPr lang="en-US" sz="2400" dirty="0">
              <a:solidFill>
                <a:schemeClr val="bg1"/>
              </a:solidFill>
            </a:endParaRPr>
          </a:p>
        </p:txBody>
      </p:sp>
    </p:spTree>
    <p:extLst>
      <p:ext uri="{BB962C8B-B14F-4D97-AF65-F5344CB8AC3E}">
        <p14:creationId xmlns:p14="http://schemas.microsoft.com/office/powerpoint/2010/main" val="21692000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255496"/>
            <a:ext cx="10665106" cy="1507067"/>
          </a:xfrm>
        </p:spPr>
        <p:txBody>
          <a:bodyPr/>
          <a:lstStyle/>
          <a:p>
            <a:r>
              <a:rPr lang="en-US" b="1" dirty="0" smtClean="0"/>
              <a:t>Other Major religion</a:t>
            </a:r>
            <a:endParaRPr lang="en-US" b="1" dirty="0"/>
          </a:p>
        </p:txBody>
      </p:sp>
      <p:sp>
        <p:nvSpPr>
          <p:cNvPr id="3" name="Content Placeholder 2"/>
          <p:cNvSpPr>
            <a:spLocks noGrp="1"/>
          </p:cNvSpPr>
          <p:nvPr>
            <p:ph idx="1"/>
          </p:nvPr>
        </p:nvSpPr>
        <p:spPr>
          <a:xfrm>
            <a:off x="684212" y="1748118"/>
            <a:ext cx="10665106" cy="4679576"/>
          </a:xfrm>
        </p:spPr>
        <p:txBody>
          <a:bodyPr>
            <a:normAutofit fontScale="92500" lnSpcReduction="20000"/>
          </a:bodyPr>
          <a:lstStyle/>
          <a:p>
            <a:pPr fontAlgn="base"/>
            <a:r>
              <a:rPr lang="en-US" sz="2400" b="1" u="sng" dirty="0" smtClean="0">
                <a:solidFill>
                  <a:schemeClr val="bg1"/>
                </a:solidFill>
              </a:rPr>
              <a:t>Confucianism</a:t>
            </a:r>
            <a:r>
              <a:rPr lang="en-US" sz="2400" b="1" dirty="0" smtClean="0">
                <a:solidFill>
                  <a:schemeClr val="bg1"/>
                </a:solidFill>
              </a:rPr>
              <a:t> – </a:t>
            </a:r>
            <a:r>
              <a:rPr lang="en-US" sz="2400" dirty="0" smtClean="0">
                <a:solidFill>
                  <a:schemeClr val="bg1"/>
                </a:solidFill>
              </a:rPr>
              <a:t> </a:t>
            </a:r>
            <a:r>
              <a:rPr lang="en-US" sz="2400" dirty="0">
                <a:solidFill>
                  <a:schemeClr val="bg1"/>
                </a:solidFill>
              </a:rPr>
              <a:t>was the official religion of China from 200 B.C.E. until it was officially abolished when communist leadership discouraged religious practice in 1949. The religion was developed by Kung Fu-Tzu (Confucius), who lived in the sixth and fifth centuries B.C.E. An extraordinary teacher, his lessons—which were about self-discipline, respect for authority and tradition, and </a:t>
            </a:r>
            <a:r>
              <a:rPr lang="en-US" sz="2400" i="1" dirty="0" err="1">
                <a:solidFill>
                  <a:schemeClr val="bg1"/>
                </a:solidFill>
              </a:rPr>
              <a:t>jen</a:t>
            </a:r>
            <a:r>
              <a:rPr lang="en-US" sz="2400" dirty="0">
                <a:solidFill>
                  <a:schemeClr val="bg1"/>
                </a:solidFill>
              </a:rPr>
              <a:t> (the kind treatment of every person)—were collected in a book called the </a:t>
            </a:r>
            <a:r>
              <a:rPr lang="en-US" sz="2400" i="1" dirty="0">
                <a:solidFill>
                  <a:schemeClr val="bg1"/>
                </a:solidFill>
              </a:rPr>
              <a:t>Analects</a:t>
            </a:r>
            <a:r>
              <a:rPr lang="en-US" sz="2400" dirty="0" smtClean="0">
                <a:solidFill>
                  <a:schemeClr val="bg1"/>
                </a:solidFill>
              </a:rPr>
              <a:t>.</a:t>
            </a:r>
          </a:p>
          <a:p>
            <a:pPr marL="0" indent="0" fontAlgn="base">
              <a:buNone/>
            </a:pPr>
            <a:endParaRPr lang="en-US" sz="2400" dirty="0" smtClean="0">
              <a:solidFill>
                <a:schemeClr val="bg1"/>
              </a:solidFill>
            </a:endParaRPr>
          </a:p>
          <a:p>
            <a:pPr fontAlgn="base"/>
            <a:r>
              <a:rPr lang="en-US" sz="2400" b="1" u="sng" dirty="0" smtClean="0">
                <a:solidFill>
                  <a:schemeClr val="bg1"/>
                </a:solidFill>
              </a:rPr>
              <a:t>Taoism</a:t>
            </a:r>
            <a:r>
              <a:rPr lang="en-US" sz="2400" dirty="0">
                <a:solidFill>
                  <a:schemeClr val="bg1"/>
                </a:solidFill>
              </a:rPr>
              <a:t>, the purpose of life is inner peace and harmony. Tao is usually translated as “way” or “path.” The founder of the religion is generally recognized to be a man named </a:t>
            </a:r>
            <a:r>
              <a:rPr lang="en-US" sz="2400" dirty="0" err="1">
                <a:solidFill>
                  <a:schemeClr val="bg1"/>
                </a:solidFill>
              </a:rPr>
              <a:t>Laozi</a:t>
            </a:r>
            <a:r>
              <a:rPr lang="en-US" sz="2400" dirty="0">
                <a:solidFill>
                  <a:schemeClr val="bg1"/>
                </a:solidFill>
              </a:rPr>
              <a:t>, who lived sometime in the sixth century B.C.E. in China. Taoist beliefs emphasize the virtues of compassion and </a:t>
            </a:r>
            <a:r>
              <a:rPr lang="en-US" sz="2400" dirty="0" smtClean="0">
                <a:solidFill>
                  <a:schemeClr val="bg1"/>
                </a:solidFill>
              </a:rPr>
              <a:t>moderation. The </a:t>
            </a:r>
            <a:r>
              <a:rPr lang="en-US" sz="2400" dirty="0">
                <a:solidFill>
                  <a:schemeClr val="bg1"/>
                </a:solidFill>
              </a:rPr>
              <a:t>central concept of </a:t>
            </a:r>
            <a:r>
              <a:rPr lang="en-US" sz="2400" i="1" dirty="0" err="1">
                <a:solidFill>
                  <a:schemeClr val="bg1"/>
                </a:solidFill>
              </a:rPr>
              <a:t>tao</a:t>
            </a:r>
            <a:r>
              <a:rPr lang="en-US" sz="2400" dirty="0">
                <a:solidFill>
                  <a:schemeClr val="bg1"/>
                </a:solidFill>
              </a:rPr>
              <a:t> can be understood to describe a spiritual reality, the order of the universe, or the way of modern life in harmony with the former two. The </a:t>
            </a:r>
            <a:r>
              <a:rPr lang="en-US" sz="2400" dirty="0" smtClean="0">
                <a:solidFill>
                  <a:schemeClr val="bg1"/>
                </a:solidFill>
              </a:rPr>
              <a:t>yin-yang </a:t>
            </a:r>
            <a:r>
              <a:rPr lang="en-US" sz="2400" dirty="0">
                <a:solidFill>
                  <a:schemeClr val="bg1"/>
                </a:solidFill>
              </a:rPr>
              <a:t>symbol and the concept of polar forces are central Taoist </a:t>
            </a:r>
            <a:r>
              <a:rPr lang="en-US" sz="2400" dirty="0" smtClean="0">
                <a:solidFill>
                  <a:schemeClr val="bg1"/>
                </a:solidFill>
              </a:rPr>
              <a:t>ideas.</a:t>
            </a:r>
            <a:endParaRPr lang="en-US" sz="2400" dirty="0">
              <a:solidFill>
                <a:schemeClr val="bg1"/>
              </a:solidFill>
            </a:endParaRPr>
          </a:p>
        </p:txBody>
      </p:sp>
    </p:spTree>
    <p:extLst>
      <p:ext uri="{BB962C8B-B14F-4D97-AF65-F5344CB8AC3E}">
        <p14:creationId xmlns:p14="http://schemas.microsoft.com/office/powerpoint/2010/main" val="1550370123"/>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4A92382FF25B44B7DF65B12BEADE66" ma:contentTypeVersion="7" ma:contentTypeDescription="Create a new document." ma:contentTypeScope="" ma:versionID="c987230984f3fdaa154004c97f060e29">
  <xsd:schema xmlns:xsd="http://www.w3.org/2001/XMLSchema" xmlns:xs="http://www.w3.org/2001/XMLSchema" xmlns:p="http://schemas.microsoft.com/office/2006/metadata/properties" xmlns:ns2="866e2459-4d4f-4228-b004-32f282435ffc" targetNamespace="http://schemas.microsoft.com/office/2006/metadata/properties" ma:root="true" ma:fieldsID="3148b43669c1e93d2374ea8354b0f74e" ns2:_="">
    <xsd:import namespace="866e2459-4d4f-4228-b004-32f282435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6e2459-4d4f-4228-b004-32f282435f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DCBFE70-B76D-49AD-82FC-948F838F2334}"/>
</file>

<file path=customXml/itemProps2.xml><?xml version="1.0" encoding="utf-8"?>
<ds:datastoreItem xmlns:ds="http://schemas.openxmlformats.org/officeDocument/2006/customXml" ds:itemID="{7C0D78AD-F0A7-4B6C-BC01-9F1388937CDA}"/>
</file>

<file path=customXml/itemProps3.xml><?xml version="1.0" encoding="utf-8"?>
<ds:datastoreItem xmlns:ds="http://schemas.openxmlformats.org/officeDocument/2006/customXml" ds:itemID="{C8DBF928-58D8-4043-AE6A-DF9D52340640}"/>
</file>

<file path=docProps/app.xml><?xml version="1.0" encoding="utf-8"?>
<Properties xmlns="http://schemas.openxmlformats.org/officeDocument/2006/extended-properties" xmlns:vt="http://schemas.openxmlformats.org/officeDocument/2006/docPropsVTypes">
  <Template>Slice</Template>
  <TotalTime>570</TotalTime>
  <Words>1558</Words>
  <Application>Microsoft Office PowerPoint</Application>
  <PresentationFormat>Widescreen</PresentationFormat>
  <Paragraphs>81</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Century Gothic</vt:lpstr>
      <vt:lpstr>Wingdings 3</vt:lpstr>
      <vt:lpstr>Slice</vt:lpstr>
      <vt:lpstr>Religion, Faith &amp; Morality</vt:lpstr>
      <vt:lpstr>Learning Objectives</vt:lpstr>
      <vt:lpstr>Religion Defined</vt:lpstr>
      <vt:lpstr>Types of religious organizations</vt:lpstr>
      <vt:lpstr>Types of religious organizations</vt:lpstr>
      <vt:lpstr>Types of religious organizations</vt:lpstr>
      <vt:lpstr>Types of religious organizations</vt:lpstr>
      <vt:lpstr>Types of religious organizations</vt:lpstr>
      <vt:lpstr>Types of religions</vt:lpstr>
      <vt:lpstr>Theism</vt:lpstr>
      <vt:lpstr>Types of religions</vt:lpstr>
      <vt:lpstr>TOP Five Religion in the world</vt:lpstr>
      <vt:lpstr>Christianity </vt:lpstr>
      <vt:lpstr>ISlam</vt:lpstr>
      <vt:lpstr>Islam</vt:lpstr>
      <vt:lpstr>Hinduism</vt:lpstr>
      <vt:lpstr>Buddhism</vt:lpstr>
      <vt:lpstr>Judaism</vt:lpstr>
      <vt:lpstr>Other Major religion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Religion, Faith &amp; Morality</dc:title>
  <dc:creator>EOS</dc:creator>
  <cp:lastModifiedBy>EOS</cp:lastModifiedBy>
  <cp:revision>15</cp:revision>
  <dcterms:created xsi:type="dcterms:W3CDTF">2021-01-04T04:40:04Z</dcterms:created>
  <dcterms:modified xsi:type="dcterms:W3CDTF">2026-03-30T10:16:16Z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0x010100884A92382FF25B44B7DF65B12BEADE66</vt:lpwstr>
  </property>
</Properties>
</file>