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4.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3.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theme/theme1.xml" ContentType="application/vnd.openxmlformats-officedocument.theme+xml"/>
  <Override PartName="/ppt/handoutMasters/handoutMaster1.xml" ContentType="application/vnd.openxmlformats-officedocument.presentationml.handout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handoutMasterIdLst>
    <p:handoutMasterId r:id="rId23"/>
  </p:handoutMasterIdLst>
  <p:sldIdLst>
    <p:sldId id="256" r:id="rId2"/>
    <p:sldId id="257" r:id="rId3"/>
    <p:sldId id="258" r:id="rId4"/>
    <p:sldId id="259" r:id="rId5"/>
    <p:sldId id="278" r:id="rId6"/>
    <p:sldId id="279" r:id="rId7"/>
    <p:sldId id="260" r:id="rId8"/>
    <p:sldId id="277" r:id="rId9"/>
    <p:sldId id="262" r:id="rId10"/>
    <p:sldId id="280" r:id="rId11"/>
    <p:sldId id="281" r:id="rId12"/>
    <p:sldId id="263" r:id="rId13"/>
    <p:sldId id="282" r:id="rId14"/>
    <p:sldId id="283" r:id="rId15"/>
    <p:sldId id="284" r:id="rId16"/>
    <p:sldId id="293" r:id="rId17"/>
    <p:sldId id="261" r:id="rId18"/>
    <p:sldId id="289" r:id="rId19"/>
    <p:sldId id="290" r:id="rId20"/>
    <p:sldId id="291" r:id="rId21"/>
    <p:sldId id="29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53" autoAdjust="0"/>
    <p:restoredTop sz="94660"/>
  </p:normalViewPr>
  <p:slideViewPr>
    <p:cSldViewPr snapToGrid="0">
      <p:cViewPr varScale="1">
        <p:scale>
          <a:sx n="82" d="100"/>
          <a:sy n="82" d="100"/>
        </p:scale>
        <p:origin x="28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39DA85-5201-4FC7-B362-7E06B7D3E7F0}" type="datetimeFigureOut">
              <a:rPr lang="en-US" smtClean="0"/>
              <a:t>2/27/2026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80FAFA8-2E58-423D-9C5A-EF5C6A492D88}" type="slidenum">
              <a:rPr lang="en-US" smtClean="0"/>
              <a:t>‹#›</a:t>
            </a:fld>
            <a:endParaRPr lang="en-US"/>
          </a:p>
        </p:txBody>
      </p:sp>
    </p:spTree>
    <p:extLst>
      <p:ext uri="{BB962C8B-B14F-4D97-AF65-F5344CB8AC3E}">
        <p14:creationId xmlns:p14="http://schemas.microsoft.com/office/powerpoint/2010/main" val="235618619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2/27/2026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3724" r="14059"/>
          <a:stretch/>
        </p:blipFill>
        <p:spPr>
          <a:xfrm>
            <a:off x="8470035" y="3470758"/>
            <a:ext cx="3713382" cy="3387241"/>
          </a:xfrm>
          <a:prstGeom prst="rect">
            <a:avLst/>
          </a:prstGeom>
        </p:spPr>
      </p:pic>
      <p:sp>
        <p:nvSpPr>
          <p:cNvPr id="2" name="Title 1"/>
          <p:cNvSpPr>
            <a:spLocks noGrp="1"/>
          </p:cNvSpPr>
          <p:nvPr>
            <p:ph type="ctrTitle"/>
          </p:nvPr>
        </p:nvSpPr>
        <p:spPr/>
        <p:txBody>
          <a:bodyPr>
            <a:normAutofit fontScale="90000"/>
          </a:bodyPr>
          <a:lstStyle/>
          <a:p>
            <a:r>
              <a:rPr lang="en-US" b="1" dirty="0"/>
              <a:t>MORAL DILEMMAS AND THE</a:t>
            </a:r>
            <a:br>
              <a:rPr lang="en-US" b="1" dirty="0"/>
            </a:br>
            <a:r>
              <a:rPr lang="en-US" b="1" dirty="0"/>
              <a:t>MINIMUM REQUIREMENTS OF</a:t>
            </a:r>
            <a:br>
              <a:rPr lang="en-US" b="1" dirty="0"/>
            </a:br>
            <a:r>
              <a:rPr lang="en-US" b="1" dirty="0"/>
              <a:t>MORALITY</a:t>
            </a:r>
          </a:p>
        </p:txBody>
      </p:sp>
      <p:sp>
        <p:nvSpPr>
          <p:cNvPr id="3" name="Subtitle 2"/>
          <p:cNvSpPr>
            <a:spLocks noGrp="1"/>
          </p:cNvSpPr>
          <p:nvPr>
            <p:ph type="subTitle" idx="1"/>
          </p:nvPr>
        </p:nvSpPr>
        <p:spPr/>
        <p:txBody>
          <a:bodyPr/>
          <a:lstStyle/>
          <a:p>
            <a:r>
              <a:rPr lang="en-US" dirty="0"/>
              <a:t>	</a:t>
            </a:r>
            <a:r>
              <a:rPr lang="en-US" dirty="0" smtClean="0"/>
              <a:t>Prepared by: Eduardo S. </a:t>
            </a:r>
            <a:r>
              <a:rPr lang="en-US" dirty="0" err="1" smtClean="0"/>
              <a:t>Sucob</a:t>
            </a:r>
            <a:r>
              <a:rPr lang="en-US" dirty="0" smtClean="0"/>
              <a:t>, Jr.</a:t>
            </a:r>
            <a:endParaRPr lang="en-US" dirty="0"/>
          </a:p>
        </p:txBody>
      </p:sp>
    </p:spTree>
    <p:extLst>
      <p:ext uri="{BB962C8B-B14F-4D97-AF65-F5344CB8AC3E}">
        <p14:creationId xmlns:p14="http://schemas.microsoft.com/office/powerpoint/2010/main" val="740426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a:t>
            </a:r>
            <a:endParaRPr lang="en-US" dirty="0"/>
          </a:p>
        </p:txBody>
      </p:sp>
      <p:sp>
        <p:nvSpPr>
          <p:cNvPr id="3" name="Content Placeholder 2"/>
          <p:cNvSpPr>
            <a:spLocks noGrp="1"/>
          </p:cNvSpPr>
          <p:nvPr>
            <p:ph idx="1"/>
          </p:nvPr>
        </p:nvSpPr>
        <p:spPr>
          <a:xfrm>
            <a:off x="1442434" y="1390918"/>
            <a:ext cx="10062178" cy="4520304"/>
          </a:xfrm>
        </p:spPr>
        <p:txBody>
          <a:bodyPr>
            <a:normAutofit/>
          </a:bodyPr>
          <a:lstStyle/>
          <a:p>
            <a:pPr marL="0" indent="0">
              <a:buNone/>
            </a:pPr>
            <a:r>
              <a:rPr lang="en-US" sz="2800" dirty="0"/>
              <a:t>At the end of the lesson, the students should </a:t>
            </a:r>
            <a:r>
              <a:rPr lang="en-US" sz="2800" dirty="0" smtClean="0"/>
              <a:t>be able </a:t>
            </a:r>
            <a:r>
              <a:rPr lang="en-US" sz="2800" dirty="0"/>
              <a:t>to</a:t>
            </a:r>
            <a:r>
              <a:rPr lang="en-US" sz="2800" dirty="0" smtClean="0"/>
              <a:t>:</a:t>
            </a:r>
          </a:p>
          <a:p>
            <a:pPr marL="0" indent="0">
              <a:buNone/>
            </a:pPr>
            <a:endParaRPr lang="en-US" sz="2800" dirty="0"/>
          </a:p>
          <a:p>
            <a:r>
              <a:rPr lang="en-US" sz="2800" dirty="0" smtClean="0"/>
              <a:t>Differentiate </a:t>
            </a:r>
            <a:r>
              <a:rPr lang="en-US" sz="2800" dirty="0"/>
              <a:t>the levels of moral dilemma.</a:t>
            </a:r>
          </a:p>
          <a:p>
            <a:r>
              <a:rPr lang="en-US" sz="2800" dirty="0" smtClean="0"/>
              <a:t>Identify </a:t>
            </a:r>
            <a:r>
              <a:rPr lang="en-US" sz="2800" dirty="0"/>
              <a:t>the minimum requirements of morality.</a:t>
            </a:r>
          </a:p>
          <a:p>
            <a:r>
              <a:rPr lang="en-US" sz="2800" dirty="0" smtClean="0"/>
              <a:t>Evaluate </a:t>
            </a:r>
            <a:r>
              <a:rPr lang="en-US" sz="2800" dirty="0"/>
              <a:t>the soundness and validity of </a:t>
            </a:r>
            <a:r>
              <a:rPr lang="en-US" sz="2800" dirty="0" smtClean="0"/>
              <a:t>the arguments </a:t>
            </a:r>
            <a:r>
              <a:rPr lang="en-US" sz="2800" dirty="0"/>
              <a:t>in a moral dilemma.</a:t>
            </a:r>
          </a:p>
          <a:p>
            <a:r>
              <a:rPr lang="en-US" sz="2800" dirty="0" smtClean="0"/>
              <a:t>Construct </a:t>
            </a:r>
            <a:r>
              <a:rPr lang="en-US" sz="2800" dirty="0"/>
              <a:t>arguments and counter arguments </a:t>
            </a:r>
            <a:r>
              <a:rPr lang="en-US" sz="2800" dirty="0" smtClean="0"/>
              <a:t>in the </a:t>
            </a:r>
            <a:r>
              <a:rPr lang="en-US" sz="2800" dirty="0"/>
              <a:t>higher level of moral dilemmas.</a:t>
            </a:r>
          </a:p>
        </p:txBody>
      </p:sp>
    </p:spTree>
    <p:extLst>
      <p:ext uri="{BB962C8B-B14F-4D97-AF65-F5344CB8AC3E}">
        <p14:creationId xmlns:p14="http://schemas.microsoft.com/office/powerpoint/2010/main" val="4264939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180" y="510863"/>
            <a:ext cx="8915400" cy="5516448"/>
          </a:xfrm>
        </p:spPr>
        <p:txBody>
          <a:bodyPr>
            <a:noAutofit/>
          </a:bodyPr>
          <a:lstStyle/>
          <a:p>
            <a:pPr marL="0" indent="0" algn="just">
              <a:buNone/>
            </a:pPr>
            <a:r>
              <a:rPr lang="en-US" sz="2800" dirty="0" smtClean="0"/>
              <a:t>		</a:t>
            </a:r>
            <a:r>
              <a:rPr lang="en-US" sz="2800" dirty="0" err="1" smtClean="0"/>
              <a:t>Angelito</a:t>
            </a:r>
            <a:r>
              <a:rPr lang="en-US" sz="2800" dirty="0" smtClean="0"/>
              <a:t> </a:t>
            </a:r>
            <a:r>
              <a:rPr lang="en-US" sz="2800" dirty="0"/>
              <a:t>started to show mental imbalances </a:t>
            </a:r>
            <a:r>
              <a:rPr lang="en-US" sz="2800" dirty="0" smtClean="0"/>
              <a:t>these past </a:t>
            </a:r>
            <a:r>
              <a:rPr lang="en-US" sz="2800" dirty="0"/>
              <a:t>few days. He was noticed by his friends </a:t>
            </a:r>
            <a:r>
              <a:rPr lang="en-US" sz="2800" dirty="0" smtClean="0"/>
              <a:t>and family </a:t>
            </a:r>
            <a:r>
              <a:rPr lang="en-US" sz="2800" dirty="0"/>
              <a:t>to have sudden outbursts of anger </a:t>
            </a:r>
            <a:r>
              <a:rPr lang="en-US" sz="2800" dirty="0" smtClean="0"/>
              <a:t>without reason</a:t>
            </a:r>
            <a:r>
              <a:rPr lang="en-US" sz="2800" dirty="0"/>
              <a:t>. To protect him from harming himself </a:t>
            </a:r>
            <a:r>
              <a:rPr lang="en-US" sz="2800" dirty="0" smtClean="0"/>
              <a:t>and others</a:t>
            </a:r>
            <a:r>
              <a:rPr lang="en-US" sz="2800" dirty="0"/>
              <a:t>, his family has kept all sorts of </a:t>
            </a:r>
            <a:r>
              <a:rPr lang="en-US" sz="2800" dirty="0" smtClean="0"/>
              <a:t>deadly weapons </a:t>
            </a:r>
            <a:r>
              <a:rPr lang="en-US" sz="2800" dirty="0"/>
              <a:t>in the house within his sight and </a:t>
            </a:r>
            <a:r>
              <a:rPr lang="en-US" sz="2800" dirty="0" smtClean="0"/>
              <a:t>reach. </a:t>
            </a:r>
          </a:p>
          <a:p>
            <a:pPr marL="0" indent="0" algn="just">
              <a:buNone/>
            </a:pPr>
            <a:r>
              <a:rPr lang="en-US" sz="2800" dirty="0" smtClean="0"/>
              <a:t>		You </a:t>
            </a:r>
            <a:r>
              <a:rPr lang="en-US" sz="2800" dirty="0"/>
              <a:t>have borrowed from </a:t>
            </a:r>
            <a:r>
              <a:rPr lang="en-US" sz="2800" dirty="0" err="1" smtClean="0"/>
              <a:t>Angelito</a:t>
            </a:r>
            <a:r>
              <a:rPr lang="en-US" sz="2800" dirty="0" smtClean="0"/>
              <a:t> </a:t>
            </a:r>
            <a:r>
              <a:rPr lang="en-US" sz="2800" dirty="0"/>
              <a:t>a </a:t>
            </a:r>
            <a:r>
              <a:rPr lang="en-US" sz="2800" dirty="0" smtClean="0"/>
              <a:t>Swiss knife which </a:t>
            </a:r>
            <a:r>
              <a:rPr lang="en-US" sz="2800" dirty="0"/>
              <a:t>you used then in your school project. </a:t>
            </a:r>
            <a:r>
              <a:rPr lang="en-US" sz="2800" dirty="0" smtClean="0"/>
              <a:t>You thought </a:t>
            </a:r>
            <a:r>
              <a:rPr lang="en-US" sz="2800" dirty="0"/>
              <a:t>you have lost it, but eventually found </a:t>
            </a:r>
            <a:r>
              <a:rPr lang="en-US" sz="2800" dirty="0" smtClean="0"/>
              <a:t>it in </a:t>
            </a:r>
            <a:r>
              <a:rPr lang="en-US" sz="2800" dirty="0"/>
              <a:t>your drawer</a:t>
            </a:r>
            <a:r>
              <a:rPr lang="en-US" sz="2800" dirty="0" smtClean="0"/>
              <a:t>.</a:t>
            </a:r>
          </a:p>
          <a:p>
            <a:pPr marL="0" indent="0" algn="just">
              <a:buNone/>
            </a:pPr>
            <a:r>
              <a:rPr lang="en-US" sz="2800" dirty="0" smtClean="0"/>
              <a:t>		</a:t>
            </a:r>
          </a:p>
          <a:p>
            <a:pPr marL="0" indent="0" algn="just">
              <a:buNone/>
            </a:pPr>
            <a:r>
              <a:rPr lang="en-US" sz="2800" dirty="0" smtClean="0"/>
              <a:t>Is </a:t>
            </a:r>
            <a:r>
              <a:rPr lang="en-US" sz="2800" dirty="0"/>
              <a:t>it right to return the borrowed thing to </a:t>
            </a:r>
            <a:r>
              <a:rPr lang="en-US" sz="2800" dirty="0" err="1" smtClean="0"/>
              <a:t>Angelito</a:t>
            </a:r>
            <a:r>
              <a:rPr lang="en-US" sz="2800" dirty="0" smtClean="0"/>
              <a:t>?</a:t>
            </a:r>
            <a:endParaRPr lang="en-US" sz="2800" dirty="0"/>
          </a:p>
        </p:txBody>
      </p:sp>
    </p:spTree>
    <p:extLst>
      <p:ext uri="{BB962C8B-B14F-4D97-AF65-F5344CB8AC3E}">
        <p14:creationId xmlns:p14="http://schemas.microsoft.com/office/powerpoint/2010/main" val="2332984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338259" y="35076"/>
            <a:ext cx="2806520" cy="1995314"/>
          </a:xfrm>
          <a:prstGeom prst="rect">
            <a:avLst/>
          </a:prstGeom>
        </p:spPr>
      </p:pic>
      <p:sp>
        <p:nvSpPr>
          <p:cNvPr id="3" name="Content Placeholder 2"/>
          <p:cNvSpPr>
            <a:spLocks noGrp="1"/>
          </p:cNvSpPr>
          <p:nvPr>
            <p:ph idx="1"/>
          </p:nvPr>
        </p:nvSpPr>
        <p:spPr>
          <a:xfrm>
            <a:off x="2074057" y="1674254"/>
            <a:ext cx="8915400" cy="4842456"/>
          </a:xfrm>
        </p:spPr>
        <p:txBody>
          <a:bodyPr>
            <a:normAutofit/>
          </a:bodyPr>
          <a:lstStyle/>
          <a:p>
            <a:r>
              <a:rPr lang="en-US" sz="2800" dirty="0"/>
              <a:t>is a complex situation that often involves </a:t>
            </a:r>
            <a:r>
              <a:rPr lang="en-US" sz="2800" dirty="0" smtClean="0"/>
              <a:t>an apparent </a:t>
            </a:r>
            <a:r>
              <a:rPr lang="en-US" sz="2800" dirty="0"/>
              <a:t>mental conflict between </a:t>
            </a:r>
            <a:r>
              <a:rPr lang="en-US" sz="2800" dirty="0" smtClean="0"/>
              <a:t>moral imperatives</a:t>
            </a:r>
            <a:r>
              <a:rPr lang="en-US" sz="2800" dirty="0"/>
              <a:t>, in which to obey one would </a:t>
            </a:r>
            <a:r>
              <a:rPr lang="en-US" sz="2800" dirty="0" smtClean="0"/>
              <a:t>result in </a:t>
            </a:r>
            <a:r>
              <a:rPr lang="en-US" sz="2800" dirty="0"/>
              <a:t>transgressing another.</a:t>
            </a:r>
          </a:p>
          <a:p>
            <a:pPr marL="0" indent="0">
              <a:buNone/>
            </a:pPr>
            <a:endParaRPr lang="en-US" sz="2800" dirty="0" smtClean="0"/>
          </a:p>
          <a:p>
            <a:r>
              <a:rPr lang="en-US" sz="2800" dirty="0" smtClean="0"/>
              <a:t>Sometimes </a:t>
            </a:r>
            <a:r>
              <a:rPr lang="en-US" sz="2800" dirty="0"/>
              <a:t>called ethical paradoxes, </a:t>
            </a:r>
            <a:r>
              <a:rPr lang="en-US" sz="2800" dirty="0" smtClean="0"/>
              <a:t>these</a:t>
            </a:r>
            <a:r>
              <a:rPr lang="en-US" sz="2800" dirty="0"/>
              <a:t> </a:t>
            </a:r>
            <a:r>
              <a:rPr lang="en-US" sz="2800" dirty="0" smtClean="0"/>
              <a:t>dilemmas </a:t>
            </a:r>
            <a:r>
              <a:rPr lang="en-US" sz="2800" dirty="0"/>
              <a:t>invoke an attempt to refute </a:t>
            </a:r>
            <a:r>
              <a:rPr lang="en-US" sz="2800" dirty="0" smtClean="0"/>
              <a:t>an ethical </a:t>
            </a:r>
            <a:r>
              <a:rPr lang="en-US" sz="2800" dirty="0"/>
              <a:t>system or moral code, or to improve </a:t>
            </a:r>
            <a:r>
              <a:rPr lang="en-US" sz="2800" dirty="0" smtClean="0"/>
              <a:t>it so </a:t>
            </a:r>
            <a:r>
              <a:rPr lang="en-US" sz="2800" dirty="0"/>
              <a:t>as to resolve the paradox.</a:t>
            </a:r>
          </a:p>
        </p:txBody>
      </p:sp>
      <p:sp>
        <p:nvSpPr>
          <p:cNvPr id="4" name="Title 1"/>
          <p:cNvSpPr>
            <a:spLocks noGrp="1"/>
          </p:cNvSpPr>
          <p:nvPr>
            <p:ph type="title"/>
          </p:nvPr>
        </p:nvSpPr>
        <p:spPr>
          <a:xfrm>
            <a:off x="2322466" y="430925"/>
            <a:ext cx="8911687" cy="1280890"/>
          </a:xfrm>
        </p:spPr>
        <p:txBody>
          <a:bodyPr/>
          <a:lstStyle/>
          <a:p>
            <a:r>
              <a:rPr lang="en-US" b="1" dirty="0"/>
              <a:t>WHAT IS A MORAL DILEMMA?</a:t>
            </a:r>
            <a:endParaRPr lang="en-US" dirty="0"/>
          </a:p>
        </p:txBody>
      </p:sp>
    </p:spTree>
    <p:extLst>
      <p:ext uri="{BB962C8B-B14F-4D97-AF65-F5344CB8AC3E}">
        <p14:creationId xmlns:p14="http://schemas.microsoft.com/office/powerpoint/2010/main" val="3796362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338259" y="35076"/>
            <a:ext cx="2806520" cy="1995314"/>
          </a:xfrm>
          <a:prstGeom prst="rect">
            <a:avLst/>
          </a:prstGeom>
        </p:spPr>
      </p:pic>
      <p:sp>
        <p:nvSpPr>
          <p:cNvPr id="3" name="Content Placeholder 2"/>
          <p:cNvSpPr>
            <a:spLocks noGrp="1"/>
          </p:cNvSpPr>
          <p:nvPr>
            <p:ph idx="1"/>
          </p:nvPr>
        </p:nvSpPr>
        <p:spPr>
          <a:xfrm>
            <a:off x="2074057" y="1674254"/>
            <a:ext cx="8915400" cy="4842456"/>
          </a:xfrm>
        </p:spPr>
        <p:txBody>
          <a:bodyPr>
            <a:normAutofit/>
          </a:bodyPr>
          <a:lstStyle/>
          <a:p>
            <a:r>
              <a:rPr lang="en-US" sz="2800" dirty="0"/>
              <a:t>The crucial features of a moral dilemma are these: </a:t>
            </a:r>
            <a:endParaRPr lang="en-US" sz="2800" dirty="0" smtClean="0"/>
          </a:p>
          <a:p>
            <a:pPr lvl="1"/>
            <a:r>
              <a:rPr lang="en-US" sz="2600" dirty="0" smtClean="0"/>
              <a:t>the </a:t>
            </a:r>
            <a:r>
              <a:rPr lang="en-US" sz="2600" dirty="0"/>
              <a:t>agent is required to do each of two (or more) actions; </a:t>
            </a:r>
            <a:endParaRPr lang="en-US" sz="2600" dirty="0" smtClean="0"/>
          </a:p>
          <a:p>
            <a:pPr lvl="1"/>
            <a:r>
              <a:rPr lang="en-US" sz="2600" dirty="0" smtClean="0"/>
              <a:t>the </a:t>
            </a:r>
            <a:r>
              <a:rPr lang="en-US" sz="2600" dirty="0"/>
              <a:t>agent can do each of the actions; but the agent cannot do both (or all) of the actions. </a:t>
            </a:r>
            <a:endParaRPr lang="en-US" sz="2600" dirty="0" smtClean="0"/>
          </a:p>
          <a:p>
            <a:pPr lvl="1"/>
            <a:r>
              <a:rPr lang="en-US" sz="2600" dirty="0" smtClean="0"/>
              <a:t>The </a:t>
            </a:r>
            <a:r>
              <a:rPr lang="en-US" sz="2600" dirty="0"/>
              <a:t>agent thus seems condemned to moral failure; no matter what </a:t>
            </a:r>
            <a:r>
              <a:rPr lang="en-US" sz="2600" dirty="0" smtClean="0"/>
              <a:t>s/he </a:t>
            </a:r>
            <a:r>
              <a:rPr lang="en-US" sz="2600" dirty="0"/>
              <a:t>does, </a:t>
            </a:r>
            <a:r>
              <a:rPr lang="en-US" sz="2600" dirty="0" smtClean="0"/>
              <a:t>s/he </a:t>
            </a:r>
            <a:r>
              <a:rPr lang="en-US" sz="2600" dirty="0"/>
              <a:t>will do something wrong (or fail to do something that she ought to do).</a:t>
            </a:r>
          </a:p>
        </p:txBody>
      </p:sp>
      <p:sp>
        <p:nvSpPr>
          <p:cNvPr id="4" name="Title 1"/>
          <p:cNvSpPr>
            <a:spLocks noGrp="1"/>
          </p:cNvSpPr>
          <p:nvPr>
            <p:ph type="title"/>
          </p:nvPr>
        </p:nvSpPr>
        <p:spPr>
          <a:xfrm>
            <a:off x="2322466" y="430925"/>
            <a:ext cx="8911687" cy="1280890"/>
          </a:xfrm>
        </p:spPr>
        <p:txBody>
          <a:bodyPr/>
          <a:lstStyle/>
          <a:p>
            <a:r>
              <a:rPr lang="en-US" b="1" dirty="0"/>
              <a:t>WHAT IS A MORAL DILEMMA?</a:t>
            </a:r>
            <a:endParaRPr lang="en-US" dirty="0"/>
          </a:p>
        </p:txBody>
      </p:sp>
    </p:spTree>
    <p:extLst>
      <p:ext uri="{BB962C8B-B14F-4D97-AF65-F5344CB8AC3E}">
        <p14:creationId xmlns:p14="http://schemas.microsoft.com/office/powerpoint/2010/main" val="1264873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338259" y="35076"/>
            <a:ext cx="2806520" cy="1995314"/>
          </a:xfrm>
          <a:prstGeom prst="rect">
            <a:avLst/>
          </a:prstGeom>
        </p:spPr>
      </p:pic>
      <p:sp>
        <p:nvSpPr>
          <p:cNvPr id="3" name="Content Placeholder 2"/>
          <p:cNvSpPr>
            <a:spLocks noGrp="1"/>
          </p:cNvSpPr>
          <p:nvPr>
            <p:ph idx="1"/>
          </p:nvPr>
        </p:nvSpPr>
        <p:spPr>
          <a:xfrm>
            <a:off x="1867993" y="1687133"/>
            <a:ext cx="8915400" cy="4842456"/>
          </a:xfrm>
        </p:spPr>
        <p:txBody>
          <a:bodyPr>
            <a:normAutofit lnSpcReduction="10000"/>
          </a:bodyPr>
          <a:lstStyle/>
          <a:p>
            <a:pPr marL="0" indent="0" algn="just">
              <a:buNone/>
            </a:pPr>
            <a:r>
              <a:rPr lang="en-US" sz="2800" dirty="0" smtClean="0"/>
              <a:t>		A </a:t>
            </a:r>
            <a:r>
              <a:rPr lang="en-US" sz="2800" dirty="0"/>
              <a:t>student whose brother had been killed in the German offensive of 1940. The student wanted to avenge his brother and to fight forces that he regarded as evil. But the student’s mother was living with him, and he was her one consolation in life. The student believed that he had conflicting obligations. </a:t>
            </a:r>
            <a:r>
              <a:rPr lang="en-US" sz="2800" dirty="0" smtClean="0"/>
              <a:t>The student is </a:t>
            </a:r>
            <a:r>
              <a:rPr lang="en-US" sz="2800" dirty="0"/>
              <a:t>being torn between two kinds of morality: one of limited scope but certain efficacy, personal devotion to his mother; the other of much wider scope but uncertain efficacy, attempting to contribute to the defeat of an unjust aggressor.</a:t>
            </a:r>
          </a:p>
        </p:txBody>
      </p:sp>
      <p:sp>
        <p:nvSpPr>
          <p:cNvPr id="4" name="Title 1"/>
          <p:cNvSpPr>
            <a:spLocks noGrp="1"/>
          </p:cNvSpPr>
          <p:nvPr>
            <p:ph type="title"/>
          </p:nvPr>
        </p:nvSpPr>
        <p:spPr>
          <a:xfrm>
            <a:off x="2322466" y="430925"/>
            <a:ext cx="8911687" cy="1280890"/>
          </a:xfrm>
        </p:spPr>
        <p:txBody>
          <a:bodyPr/>
          <a:lstStyle/>
          <a:p>
            <a:r>
              <a:rPr lang="en-US" b="1" dirty="0" smtClean="0"/>
              <a:t>EXAMPLE OF </a:t>
            </a:r>
            <a:r>
              <a:rPr lang="en-US" b="1" dirty="0"/>
              <a:t>A MORAL </a:t>
            </a:r>
            <a:r>
              <a:rPr lang="en-US" b="1" dirty="0" smtClean="0"/>
              <a:t>DILEMMA</a:t>
            </a:r>
            <a:endParaRPr lang="en-US" dirty="0"/>
          </a:p>
        </p:txBody>
      </p:sp>
    </p:spTree>
    <p:extLst>
      <p:ext uri="{BB962C8B-B14F-4D97-AF65-F5344CB8AC3E}">
        <p14:creationId xmlns:p14="http://schemas.microsoft.com/office/powerpoint/2010/main" val="2192476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MORAL DILEMMAS</a:t>
            </a:r>
          </a:p>
        </p:txBody>
      </p:sp>
      <p:sp>
        <p:nvSpPr>
          <p:cNvPr id="6" name="Content Placeholder 2"/>
          <p:cNvSpPr>
            <a:spLocks noGrp="1"/>
          </p:cNvSpPr>
          <p:nvPr>
            <p:ph idx="1"/>
          </p:nvPr>
        </p:nvSpPr>
        <p:spPr>
          <a:xfrm>
            <a:off x="2074057" y="1674254"/>
            <a:ext cx="8915400" cy="4842456"/>
          </a:xfrm>
        </p:spPr>
        <p:txBody>
          <a:bodyPr>
            <a:normAutofit fontScale="92500" lnSpcReduction="10000"/>
          </a:bodyPr>
          <a:lstStyle/>
          <a:p>
            <a:pPr marL="514350" indent="-514350">
              <a:buAutoNum type="arabicPeriod"/>
            </a:pPr>
            <a:r>
              <a:rPr lang="en-US" sz="2800" b="1" u="sng" dirty="0" smtClean="0"/>
              <a:t>Epistemic </a:t>
            </a:r>
            <a:r>
              <a:rPr lang="en-US" sz="2800" b="1" u="sng" dirty="0"/>
              <a:t>conflicts</a:t>
            </a:r>
            <a:r>
              <a:rPr lang="en-US" sz="2800" dirty="0"/>
              <a:t> </a:t>
            </a:r>
            <a:r>
              <a:rPr lang="en-US" sz="2800" dirty="0" smtClean="0"/>
              <a:t>– This </a:t>
            </a:r>
            <a:r>
              <a:rPr lang="en-US" sz="2800" dirty="0"/>
              <a:t>type of dilemma </a:t>
            </a:r>
            <a:r>
              <a:rPr lang="en-US" sz="2800" dirty="0" smtClean="0"/>
              <a:t>involves conflicts </a:t>
            </a:r>
            <a:r>
              <a:rPr lang="en-US" sz="2800" dirty="0"/>
              <a:t>between two (or more) </a:t>
            </a:r>
            <a:r>
              <a:rPr lang="en-US" sz="2800" dirty="0" smtClean="0"/>
              <a:t>moral requirements </a:t>
            </a:r>
            <a:r>
              <a:rPr lang="en-US" sz="2800" dirty="0"/>
              <a:t>and the agent does not know </a:t>
            </a:r>
            <a:r>
              <a:rPr lang="en-US" sz="2800" dirty="0" smtClean="0"/>
              <a:t>which of </a:t>
            </a:r>
            <a:r>
              <a:rPr lang="en-US" sz="2800" dirty="0"/>
              <a:t>the conflicting requirements takes </a:t>
            </a:r>
            <a:r>
              <a:rPr lang="en-US" sz="2800" dirty="0" smtClean="0"/>
              <a:t>precedence in </a:t>
            </a:r>
            <a:r>
              <a:rPr lang="en-US" sz="2800" dirty="0"/>
              <a:t>her </a:t>
            </a:r>
            <a:r>
              <a:rPr lang="en-US" sz="2800" dirty="0" smtClean="0"/>
              <a:t>situation.</a:t>
            </a:r>
          </a:p>
          <a:p>
            <a:pPr marL="0" indent="0">
              <a:buNone/>
            </a:pPr>
            <a:endParaRPr lang="en-US" sz="2800" dirty="0" smtClean="0"/>
          </a:p>
          <a:p>
            <a:pPr marL="514350" indent="-514350">
              <a:buFont typeface="+mj-lt"/>
              <a:buAutoNum type="arabicPeriod" startAt="2"/>
            </a:pPr>
            <a:r>
              <a:rPr lang="en-US" sz="2800" b="1" u="sng" dirty="0" smtClean="0"/>
              <a:t>Ontological conflicts</a:t>
            </a:r>
            <a:r>
              <a:rPr lang="en-US" sz="2800" b="1" dirty="0" smtClean="0"/>
              <a:t> – </a:t>
            </a:r>
            <a:r>
              <a:rPr lang="en-US" sz="2800" dirty="0" smtClean="0"/>
              <a:t>This </a:t>
            </a:r>
            <a:r>
              <a:rPr lang="en-US" sz="2800" dirty="0"/>
              <a:t>dilemma </a:t>
            </a:r>
            <a:r>
              <a:rPr lang="en-US" sz="2800" dirty="0" smtClean="0"/>
              <a:t>involves conflicts </a:t>
            </a:r>
            <a:r>
              <a:rPr lang="en-US" sz="2800" dirty="0"/>
              <a:t>between two (or more) </a:t>
            </a:r>
            <a:r>
              <a:rPr lang="en-US" sz="2800" dirty="0" smtClean="0"/>
              <a:t>moral requirements</a:t>
            </a:r>
            <a:r>
              <a:rPr lang="en-US" sz="2800" dirty="0"/>
              <a:t>, and neither is overridden. This is </a:t>
            </a:r>
            <a:r>
              <a:rPr lang="en-US" sz="2800" dirty="0" smtClean="0"/>
              <a:t>not simply </a:t>
            </a:r>
            <a:r>
              <a:rPr lang="en-US" sz="2800" dirty="0"/>
              <a:t>because the agent does not know </a:t>
            </a:r>
            <a:r>
              <a:rPr lang="en-US" sz="2800" dirty="0" smtClean="0"/>
              <a:t>which requirement </a:t>
            </a:r>
            <a:r>
              <a:rPr lang="en-US" sz="2800" dirty="0"/>
              <a:t>is stronger; neither is. Genuine </a:t>
            </a:r>
            <a:r>
              <a:rPr lang="en-US" sz="2800" dirty="0" smtClean="0"/>
              <a:t>moral dilemmas</a:t>
            </a:r>
            <a:r>
              <a:rPr lang="en-US" sz="2800" dirty="0"/>
              <a:t>, if there are any, are ontological.</a:t>
            </a:r>
          </a:p>
        </p:txBody>
      </p:sp>
    </p:spTree>
    <p:extLst>
      <p:ext uri="{BB962C8B-B14F-4D97-AF65-F5344CB8AC3E}">
        <p14:creationId xmlns:p14="http://schemas.microsoft.com/office/powerpoint/2010/main" val="2253159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MORAL DILEMMAS</a:t>
            </a:r>
          </a:p>
        </p:txBody>
      </p:sp>
      <p:sp>
        <p:nvSpPr>
          <p:cNvPr id="6" name="Content Placeholder 2"/>
          <p:cNvSpPr>
            <a:spLocks noGrp="1"/>
          </p:cNvSpPr>
          <p:nvPr>
            <p:ph idx="1"/>
          </p:nvPr>
        </p:nvSpPr>
        <p:spPr>
          <a:xfrm>
            <a:off x="2074057" y="1674254"/>
            <a:ext cx="8915400" cy="4842456"/>
          </a:xfrm>
        </p:spPr>
        <p:txBody>
          <a:bodyPr>
            <a:normAutofit/>
          </a:bodyPr>
          <a:lstStyle/>
          <a:p>
            <a:pPr marL="514350" indent="-514350">
              <a:buFont typeface="+mj-lt"/>
              <a:buAutoNum type="arabicPeriod" startAt="3"/>
            </a:pPr>
            <a:r>
              <a:rPr lang="en-US" sz="2800" b="1" u="sng" dirty="0" smtClean="0"/>
              <a:t>Self-imposed </a:t>
            </a:r>
            <a:r>
              <a:rPr lang="en-US" sz="2800" b="1" u="sng" dirty="0"/>
              <a:t>moral </a:t>
            </a:r>
            <a:r>
              <a:rPr lang="en-US" sz="2800" b="1" u="sng" dirty="0" smtClean="0"/>
              <a:t>dilemmas</a:t>
            </a:r>
            <a:r>
              <a:rPr lang="en-US" sz="2800" dirty="0" smtClean="0"/>
              <a:t> – </a:t>
            </a:r>
            <a:r>
              <a:rPr lang="en-US" sz="2800" dirty="0"/>
              <a:t>arise </a:t>
            </a:r>
            <a:r>
              <a:rPr lang="en-US" sz="2800" dirty="0" smtClean="0"/>
              <a:t>because of </a:t>
            </a:r>
            <a:r>
              <a:rPr lang="en-US" sz="2800" dirty="0"/>
              <a:t>the agent's own wrongdoing (</a:t>
            </a:r>
            <a:r>
              <a:rPr lang="en-US" sz="2800" dirty="0" smtClean="0"/>
              <a:t>Aquinas; </a:t>
            </a:r>
            <a:r>
              <a:rPr lang="en-US" sz="2800" dirty="0" err="1" smtClean="0"/>
              <a:t>Donagan</a:t>
            </a:r>
            <a:r>
              <a:rPr lang="en-US" sz="2800" dirty="0" smtClean="0"/>
              <a:t> </a:t>
            </a:r>
            <a:r>
              <a:rPr lang="en-US" sz="2800" dirty="0"/>
              <a:t>1977, 1984; and McConnell 1978).</a:t>
            </a:r>
          </a:p>
          <a:p>
            <a:pPr marL="0" indent="0">
              <a:buNone/>
            </a:pPr>
            <a:endParaRPr lang="en-US" sz="2800" dirty="0" smtClean="0"/>
          </a:p>
          <a:p>
            <a:pPr marL="0" indent="0">
              <a:buNone/>
            </a:pPr>
            <a:r>
              <a:rPr lang="en-US" sz="2800" dirty="0"/>
              <a:t>	</a:t>
            </a:r>
            <a:r>
              <a:rPr lang="en-US" sz="2800" dirty="0" smtClean="0"/>
              <a:t>Example</a:t>
            </a:r>
            <a:r>
              <a:rPr lang="en-US" sz="2800" dirty="0"/>
              <a:t>: An agent made two promises </a:t>
            </a:r>
            <a:r>
              <a:rPr lang="en-US" sz="2800" dirty="0" smtClean="0"/>
              <a:t>that he 	knew </a:t>
            </a:r>
            <a:r>
              <a:rPr lang="en-US" sz="2800" dirty="0"/>
              <a:t>conflicted, then through his </a:t>
            </a:r>
            <a:r>
              <a:rPr lang="en-US" sz="2800" dirty="0" smtClean="0"/>
              <a:t>own actions 	he </a:t>
            </a:r>
            <a:r>
              <a:rPr lang="en-US" sz="2800" dirty="0"/>
              <a:t>created a situation in which it is </a:t>
            </a:r>
            <a:r>
              <a:rPr lang="en-US" sz="2800" dirty="0" smtClean="0"/>
              <a:t>not possible 	for </a:t>
            </a:r>
            <a:r>
              <a:rPr lang="en-US" sz="2800" dirty="0"/>
              <a:t>him to discharge both of </a:t>
            </a:r>
            <a:r>
              <a:rPr lang="en-US" sz="2800" dirty="0" smtClean="0"/>
              <a:t>his requirements</a:t>
            </a:r>
            <a:r>
              <a:rPr lang="en-US" sz="2800" dirty="0"/>
              <a:t>.</a:t>
            </a:r>
            <a:endParaRPr lang="en-US" sz="2800" dirty="0" smtClean="0"/>
          </a:p>
          <a:p>
            <a:pPr marL="0" indent="0">
              <a:buNone/>
            </a:pPr>
            <a:endParaRPr lang="en-US" sz="2800" dirty="0" smtClean="0"/>
          </a:p>
        </p:txBody>
      </p:sp>
    </p:spTree>
    <p:extLst>
      <p:ext uri="{BB962C8B-B14F-4D97-AF65-F5344CB8AC3E}">
        <p14:creationId xmlns:p14="http://schemas.microsoft.com/office/powerpoint/2010/main" val="1612916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598352"/>
            <a:ext cx="8911687" cy="1280890"/>
          </a:xfrm>
        </p:spPr>
        <p:txBody>
          <a:bodyPr/>
          <a:lstStyle/>
          <a:p>
            <a:r>
              <a:rPr lang="en-US" b="1" dirty="0"/>
              <a:t>THREE LEVELS OF </a:t>
            </a:r>
            <a:r>
              <a:rPr lang="en-US" b="1" dirty="0" smtClean="0"/>
              <a:t>MORAL DILEMMAS</a:t>
            </a:r>
            <a:endParaRPr lang="en-US" b="1" dirty="0"/>
          </a:p>
        </p:txBody>
      </p:sp>
      <p:sp>
        <p:nvSpPr>
          <p:cNvPr id="3" name="Content Placeholder 2"/>
          <p:cNvSpPr>
            <a:spLocks noGrp="1"/>
          </p:cNvSpPr>
          <p:nvPr>
            <p:ph idx="1"/>
          </p:nvPr>
        </p:nvSpPr>
        <p:spPr>
          <a:xfrm>
            <a:off x="2592924" y="1635618"/>
            <a:ext cx="8911687" cy="4404394"/>
          </a:xfrm>
        </p:spPr>
        <p:txBody>
          <a:bodyPr>
            <a:noAutofit/>
          </a:bodyPr>
          <a:lstStyle/>
          <a:p>
            <a:pPr marL="514350" indent="-514350">
              <a:buAutoNum type="arabicPeriod"/>
            </a:pPr>
            <a:r>
              <a:rPr lang="en-US" sz="2800" b="1" dirty="0" smtClean="0"/>
              <a:t>Personal/Individual Moral </a:t>
            </a:r>
            <a:r>
              <a:rPr lang="en-US" sz="2800" b="1" dirty="0" smtClean="0"/>
              <a:t>Dilemmas </a:t>
            </a:r>
            <a:r>
              <a:rPr lang="en-US" sz="2800" dirty="0"/>
              <a:t>–</a:t>
            </a:r>
            <a:r>
              <a:rPr lang="en-US" sz="2800" b="1" dirty="0" smtClean="0"/>
              <a:t> personal in nature</a:t>
            </a:r>
          </a:p>
          <a:p>
            <a:pPr marL="0" indent="0">
              <a:buNone/>
            </a:pPr>
            <a:r>
              <a:rPr lang="en-US" sz="2800" b="1" dirty="0" smtClean="0"/>
              <a:t>	Examples: </a:t>
            </a:r>
          </a:p>
          <a:p>
            <a:pPr marL="0" indent="0">
              <a:buNone/>
            </a:pPr>
            <a:r>
              <a:rPr lang="en-US" sz="2800" b="1" dirty="0"/>
              <a:t>	</a:t>
            </a:r>
            <a:r>
              <a:rPr lang="en-US" sz="2800" b="1" dirty="0" smtClean="0"/>
              <a:t>	</a:t>
            </a:r>
            <a:r>
              <a:rPr lang="en-US" sz="2800" dirty="0" smtClean="0"/>
              <a:t>a. deciding </a:t>
            </a:r>
            <a:r>
              <a:rPr lang="en-US" sz="2800" dirty="0"/>
              <a:t>which parent to live </a:t>
            </a:r>
            <a:r>
              <a:rPr lang="en-US" sz="2800" dirty="0" smtClean="0"/>
              <a:t>with</a:t>
            </a:r>
          </a:p>
          <a:p>
            <a:pPr marL="0" indent="0">
              <a:buNone/>
            </a:pPr>
            <a:r>
              <a:rPr lang="en-US" sz="2800" dirty="0"/>
              <a:t>	</a:t>
            </a:r>
            <a:r>
              <a:rPr lang="en-US" sz="2800" dirty="0" smtClean="0"/>
              <a:t>	b. </a:t>
            </a:r>
            <a:r>
              <a:rPr lang="en-US" sz="2800" dirty="0"/>
              <a:t>deciding whether to let their family starve </a:t>
            </a:r>
            <a:r>
              <a:rPr lang="en-US" sz="2800" dirty="0" smtClean="0"/>
              <a:t>				or </a:t>
            </a:r>
            <a:r>
              <a:rPr lang="en-US" sz="2800" dirty="0"/>
              <a:t>steal bread from someone </a:t>
            </a:r>
            <a:r>
              <a:rPr lang="en-US" sz="2800" dirty="0" smtClean="0"/>
              <a:t>else</a:t>
            </a:r>
          </a:p>
        </p:txBody>
      </p:sp>
    </p:spTree>
    <p:extLst>
      <p:ext uri="{BB962C8B-B14F-4D97-AF65-F5344CB8AC3E}">
        <p14:creationId xmlns:p14="http://schemas.microsoft.com/office/powerpoint/2010/main" val="3311680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598352"/>
            <a:ext cx="8911687" cy="1280890"/>
          </a:xfrm>
        </p:spPr>
        <p:txBody>
          <a:bodyPr/>
          <a:lstStyle/>
          <a:p>
            <a:r>
              <a:rPr lang="en-US" b="1" dirty="0"/>
              <a:t>THREE LEVELS OF </a:t>
            </a:r>
            <a:r>
              <a:rPr lang="en-US" b="1" dirty="0" smtClean="0"/>
              <a:t>MORAL DILEMMAS</a:t>
            </a:r>
            <a:endParaRPr lang="en-US" b="1" dirty="0"/>
          </a:p>
        </p:txBody>
      </p:sp>
      <p:sp>
        <p:nvSpPr>
          <p:cNvPr id="3" name="Content Placeholder 2"/>
          <p:cNvSpPr>
            <a:spLocks noGrp="1"/>
          </p:cNvSpPr>
          <p:nvPr>
            <p:ph idx="1"/>
          </p:nvPr>
        </p:nvSpPr>
        <p:spPr>
          <a:xfrm>
            <a:off x="2318198" y="1635618"/>
            <a:ext cx="9186414" cy="4404394"/>
          </a:xfrm>
        </p:spPr>
        <p:txBody>
          <a:bodyPr>
            <a:noAutofit/>
          </a:bodyPr>
          <a:lstStyle/>
          <a:p>
            <a:pPr marL="514350" indent="-514350">
              <a:buFont typeface="+mj-lt"/>
              <a:buAutoNum type="arabicPeriod" startAt="2"/>
            </a:pPr>
            <a:r>
              <a:rPr lang="en-US" sz="2800" b="1" dirty="0" smtClean="0"/>
              <a:t>Organizational Dilemmas </a:t>
            </a:r>
            <a:r>
              <a:rPr lang="en-US" sz="2800" dirty="0" smtClean="0"/>
              <a:t>– a dilemma </a:t>
            </a:r>
            <a:r>
              <a:rPr lang="en-US" sz="2800" dirty="0"/>
              <a:t>that exist within </a:t>
            </a:r>
            <a:r>
              <a:rPr lang="en-US" sz="2800" dirty="0" smtClean="0"/>
              <a:t>an organization </a:t>
            </a:r>
            <a:r>
              <a:rPr lang="en-US" sz="2800" dirty="0"/>
              <a:t>or a particular sector. </a:t>
            </a:r>
            <a:r>
              <a:rPr lang="en-US" sz="2800" dirty="0" smtClean="0"/>
              <a:t>It refers </a:t>
            </a:r>
            <a:r>
              <a:rPr lang="en-US" sz="2800" dirty="0"/>
              <a:t>to a problem of </a:t>
            </a:r>
            <a:r>
              <a:rPr lang="en-US" sz="2800" dirty="0" smtClean="0"/>
              <a:t>reconciling inconsistencies </a:t>
            </a:r>
            <a:r>
              <a:rPr lang="en-US" sz="2800" dirty="0"/>
              <a:t>between </a:t>
            </a:r>
            <a:r>
              <a:rPr lang="en-US" sz="2800" dirty="0" smtClean="0"/>
              <a:t>individual needs </a:t>
            </a:r>
            <a:r>
              <a:rPr lang="en-US" sz="2800" dirty="0"/>
              <a:t>and aspirations on the </a:t>
            </a:r>
            <a:r>
              <a:rPr lang="en-US" sz="2800" dirty="0" smtClean="0"/>
              <a:t>one hand</a:t>
            </a:r>
            <a:r>
              <a:rPr lang="en-US" sz="2800" dirty="0"/>
              <a:t>, and the collective purpose </a:t>
            </a:r>
            <a:r>
              <a:rPr lang="en-US" sz="2800" dirty="0" smtClean="0"/>
              <a:t>of the </a:t>
            </a:r>
            <a:r>
              <a:rPr lang="en-US" sz="2800" dirty="0"/>
              <a:t>organization on the other</a:t>
            </a:r>
            <a:r>
              <a:rPr lang="en-US" sz="2800" dirty="0" smtClean="0"/>
              <a:t>.</a:t>
            </a:r>
          </a:p>
          <a:p>
            <a:pPr marL="0" indent="0">
              <a:buNone/>
            </a:pPr>
            <a:r>
              <a:rPr lang="en-US" sz="2800" b="1" dirty="0"/>
              <a:t>Example: </a:t>
            </a:r>
          </a:p>
          <a:p>
            <a:pPr marL="0" indent="0">
              <a:buNone/>
            </a:pPr>
            <a:r>
              <a:rPr lang="en-US" sz="2800" b="1" dirty="0"/>
              <a:t>		</a:t>
            </a:r>
            <a:r>
              <a:rPr lang="en-US" sz="2800" dirty="0"/>
              <a:t>a. </a:t>
            </a:r>
            <a:r>
              <a:rPr lang="en-US" sz="2800" dirty="0" smtClean="0"/>
              <a:t>a manager deciding </a:t>
            </a:r>
            <a:r>
              <a:rPr lang="en-US" sz="2800" dirty="0"/>
              <a:t>which </a:t>
            </a:r>
            <a:r>
              <a:rPr lang="en-US" sz="2800" dirty="0" smtClean="0"/>
              <a:t>employee to 				promote</a:t>
            </a:r>
            <a:endParaRPr lang="en-US" sz="2800" dirty="0"/>
          </a:p>
        </p:txBody>
      </p:sp>
    </p:spTree>
    <p:extLst>
      <p:ext uri="{BB962C8B-B14F-4D97-AF65-F5344CB8AC3E}">
        <p14:creationId xmlns:p14="http://schemas.microsoft.com/office/powerpoint/2010/main" val="4026867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598352"/>
            <a:ext cx="8911687" cy="1280890"/>
          </a:xfrm>
        </p:spPr>
        <p:txBody>
          <a:bodyPr/>
          <a:lstStyle/>
          <a:p>
            <a:r>
              <a:rPr lang="en-US" b="1" dirty="0"/>
              <a:t>THREE LEVELS OF </a:t>
            </a:r>
            <a:r>
              <a:rPr lang="en-US" b="1" dirty="0" smtClean="0"/>
              <a:t>MORAL DILEMMAS</a:t>
            </a:r>
            <a:endParaRPr lang="en-US" b="1" dirty="0"/>
          </a:p>
        </p:txBody>
      </p:sp>
      <p:sp>
        <p:nvSpPr>
          <p:cNvPr id="3" name="Content Placeholder 2"/>
          <p:cNvSpPr>
            <a:spLocks noGrp="1"/>
          </p:cNvSpPr>
          <p:nvPr>
            <p:ph idx="1"/>
          </p:nvPr>
        </p:nvSpPr>
        <p:spPr>
          <a:xfrm>
            <a:off x="2318198" y="1635618"/>
            <a:ext cx="9186414" cy="4404394"/>
          </a:xfrm>
        </p:spPr>
        <p:txBody>
          <a:bodyPr>
            <a:noAutofit/>
          </a:bodyPr>
          <a:lstStyle/>
          <a:p>
            <a:pPr marL="514350" indent="-514350">
              <a:buFont typeface="+mj-lt"/>
              <a:buAutoNum type="arabicPeriod" startAt="3"/>
            </a:pPr>
            <a:r>
              <a:rPr lang="en-US" sz="2800" b="1" dirty="0" smtClean="0"/>
              <a:t>Systematic/Structural Dilemma </a:t>
            </a:r>
            <a:r>
              <a:rPr lang="en-US" sz="2800" dirty="0" smtClean="0"/>
              <a:t>– This dilemma </a:t>
            </a:r>
            <a:r>
              <a:rPr lang="en-US" sz="2800" dirty="0"/>
              <a:t>refers to ongoing search </a:t>
            </a:r>
            <a:r>
              <a:rPr lang="en-US" sz="2800" dirty="0" smtClean="0"/>
              <a:t>for satisfactory </a:t>
            </a:r>
            <a:r>
              <a:rPr lang="en-US" sz="2800" dirty="0"/>
              <a:t>system. Managers </a:t>
            </a:r>
            <a:r>
              <a:rPr lang="en-US" sz="2800" dirty="0" smtClean="0"/>
              <a:t>rarely face </a:t>
            </a:r>
            <a:r>
              <a:rPr lang="en-US" sz="2800" dirty="0"/>
              <a:t>well defined problems with </a:t>
            </a:r>
            <a:r>
              <a:rPr lang="en-US" sz="2800" dirty="0" smtClean="0"/>
              <a:t>clear cut </a:t>
            </a:r>
            <a:r>
              <a:rPr lang="en-US" sz="2800" dirty="0"/>
              <a:t>solutions, instead, they </a:t>
            </a:r>
            <a:r>
              <a:rPr lang="en-US" sz="2800" dirty="0" smtClean="0"/>
              <a:t>confront enduring </a:t>
            </a:r>
            <a:r>
              <a:rPr lang="en-US" sz="2800" dirty="0"/>
              <a:t>dilemmas like trade </a:t>
            </a:r>
            <a:r>
              <a:rPr lang="en-US" sz="2800" dirty="0" smtClean="0"/>
              <a:t>offs, without </a:t>
            </a:r>
            <a:r>
              <a:rPr lang="en-US" sz="2800" dirty="0"/>
              <a:t>easy answers</a:t>
            </a:r>
            <a:r>
              <a:rPr lang="en-US" sz="2800" dirty="0" smtClean="0"/>
              <a:t>.</a:t>
            </a:r>
          </a:p>
          <a:p>
            <a:pPr marL="0" indent="0">
              <a:buNone/>
            </a:pPr>
            <a:r>
              <a:rPr lang="en-US" sz="2800" b="1" dirty="0"/>
              <a:t>Example: </a:t>
            </a:r>
          </a:p>
          <a:p>
            <a:pPr marL="0" indent="0">
              <a:buNone/>
            </a:pPr>
            <a:r>
              <a:rPr lang="en-US" sz="2800" b="1" dirty="0"/>
              <a:t>		</a:t>
            </a:r>
            <a:r>
              <a:rPr lang="en-US" sz="2800" dirty="0"/>
              <a:t>a. </a:t>
            </a:r>
            <a:r>
              <a:rPr lang="en-US" sz="2800" dirty="0" smtClean="0"/>
              <a:t>The President deciding which economic 				system to follow.</a:t>
            </a:r>
            <a:endParaRPr lang="en-US" sz="2800" dirty="0"/>
          </a:p>
        </p:txBody>
      </p:sp>
    </p:spTree>
    <p:extLst>
      <p:ext uri="{BB962C8B-B14F-4D97-AF65-F5344CB8AC3E}">
        <p14:creationId xmlns:p14="http://schemas.microsoft.com/office/powerpoint/2010/main" val="4097492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4586" y="360609"/>
            <a:ext cx="9796552" cy="6284889"/>
          </a:xfrm>
        </p:spPr>
        <p:txBody>
          <a:bodyPr>
            <a:noAutofit/>
          </a:bodyPr>
          <a:lstStyle/>
          <a:p>
            <a:r>
              <a:rPr lang="en-US" sz="2600" dirty="0" smtClean="0"/>
              <a:t>University </a:t>
            </a:r>
            <a:r>
              <a:rPr lang="en-US" sz="2600" dirty="0"/>
              <a:t>A spends a minimum of 100K for </a:t>
            </a:r>
            <a:r>
              <a:rPr lang="en-US" sz="2600" dirty="0" smtClean="0"/>
              <a:t>European trips </a:t>
            </a:r>
            <a:r>
              <a:rPr lang="en-US" sz="2600" dirty="0"/>
              <a:t>of Dean Torres. The trips involve </a:t>
            </a:r>
            <a:r>
              <a:rPr lang="en-US" sz="2600" dirty="0" smtClean="0"/>
              <a:t>paper presentations</a:t>
            </a:r>
            <a:r>
              <a:rPr lang="en-US" sz="2600" dirty="0"/>
              <a:t>, attendance to </a:t>
            </a:r>
            <a:r>
              <a:rPr lang="en-US" sz="2600" dirty="0" smtClean="0"/>
              <a:t>international conferences</a:t>
            </a:r>
            <a:r>
              <a:rPr lang="en-US" sz="2600" dirty="0"/>
              <a:t>, linkages with other universities </a:t>
            </a:r>
            <a:r>
              <a:rPr lang="en-US" sz="2600" dirty="0" smtClean="0"/>
              <a:t>abroad, and </a:t>
            </a:r>
            <a:r>
              <a:rPr lang="en-US" sz="2600" dirty="0"/>
              <a:t>benchmarking of best practices</a:t>
            </a:r>
            <a:r>
              <a:rPr lang="en-US" sz="2600" dirty="0" smtClean="0"/>
              <a:t>.</a:t>
            </a:r>
          </a:p>
          <a:p>
            <a:r>
              <a:rPr lang="en-US" sz="2600" dirty="0" smtClean="0"/>
              <a:t>However, unknown to the management of University A</a:t>
            </a:r>
            <a:r>
              <a:rPr lang="en-US" sz="2600" dirty="0"/>
              <a:t>, Dean Torres is also employed as an academic </a:t>
            </a:r>
            <a:r>
              <a:rPr lang="en-US" sz="2600" dirty="0" smtClean="0"/>
              <a:t>officer in </a:t>
            </a:r>
            <a:r>
              <a:rPr lang="en-US" sz="2600" dirty="0"/>
              <a:t>University B. The latter is aware of the </a:t>
            </a:r>
            <a:r>
              <a:rPr lang="en-US" sz="2600" dirty="0" smtClean="0"/>
              <a:t>employment of </a:t>
            </a:r>
            <a:r>
              <a:rPr lang="en-US" sz="2600" dirty="0"/>
              <a:t>Dean Torres in University A. When the </a:t>
            </a:r>
            <a:r>
              <a:rPr lang="en-US" sz="2600" dirty="0" smtClean="0"/>
              <a:t>management of </a:t>
            </a:r>
            <a:r>
              <a:rPr lang="en-US" sz="2600" dirty="0"/>
              <a:t>University B learned about the trip of Dean Torres </a:t>
            </a:r>
            <a:r>
              <a:rPr lang="en-US" sz="2600" dirty="0" smtClean="0"/>
              <a:t>in Europe</a:t>
            </a:r>
            <a:r>
              <a:rPr lang="en-US" sz="2600" dirty="0"/>
              <a:t>, it requested him to visit two schools (</a:t>
            </a:r>
            <a:r>
              <a:rPr lang="en-US" sz="2600" dirty="0" smtClean="0"/>
              <a:t>in Europe</a:t>
            </a:r>
            <a:r>
              <a:rPr lang="en-US" sz="2600" dirty="0"/>
              <a:t>) regarding its 3 programs under </a:t>
            </a:r>
            <a:r>
              <a:rPr lang="en-US" sz="2600" dirty="0" smtClean="0"/>
              <a:t>conception. Since </a:t>
            </a:r>
            <a:r>
              <a:rPr lang="en-US" sz="2600" dirty="0"/>
              <a:t>University B would only be a rider on </a:t>
            </a:r>
            <a:r>
              <a:rPr lang="en-US" sz="2600" dirty="0" smtClean="0"/>
              <a:t>Dean Torres </a:t>
            </a:r>
            <a:r>
              <a:rPr lang="en-US" sz="2600" dirty="0"/>
              <a:t>trips, it offers him 50K as personal allowance.</a:t>
            </a:r>
          </a:p>
        </p:txBody>
      </p:sp>
    </p:spTree>
    <p:extLst>
      <p:ext uri="{BB962C8B-B14F-4D97-AF65-F5344CB8AC3E}">
        <p14:creationId xmlns:p14="http://schemas.microsoft.com/office/powerpoint/2010/main" val="3643767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4586" y="360609"/>
            <a:ext cx="9796552" cy="6284889"/>
          </a:xfrm>
        </p:spPr>
        <p:txBody>
          <a:bodyPr>
            <a:noAutofit/>
          </a:bodyPr>
          <a:lstStyle/>
          <a:p>
            <a:r>
              <a:rPr lang="en-US" sz="2800" dirty="0"/>
              <a:t>Dean Torres was glad about the offer. He </a:t>
            </a:r>
            <a:r>
              <a:rPr lang="en-US" sz="2800" dirty="0" smtClean="0"/>
              <a:t>needed money </a:t>
            </a:r>
            <a:r>
              <a:rPr lang="en-US" sz="2800" dirty="0"/>
              <a:t>for the upcoming kidney operation of </a:t>
            </a:r>
            <a:r>
              <a:rPr lang="en-US" sz="2800" dirty="0" smtClean="0"/>
              <a:t>his wife</a:t>
            </a:r>
            <a:r>
              <a:rPr lang="en-US" sz="2800" dirty="0"/>
              <a:t>. For his European trip, he is entitled for </a:t>
            </a:r>
            <a:r>
              <a:rPr lang="en-US" sz="2800" dirty="0" smtClean="0"/>
              <a:t>full transportation</a:t>
            </a:r>
            <a:r>
              <a:rPr lang="en-US" sz="2800" dirty="0"/>
              <a:t>, accommodation and </a:t>
            </a:r>
            <a:r>
              <a:rPr lang="en-US" sz="2800" dirty="0" smtClean="0"/>
              <a:t>personal allowances </a:t>
            </a:r>
            <a:r>
              <a:rPr lang="en-US" sz="2800" dirty="0"/>
              <a:t>by University A, intended for the </a:t>
            </a:r>
            <a:r>
              <a:rPr lang="en-US" sz="2800" dirty="0" smtClean="0"/>
              <a:t>paper presentation </a:t>
            </a:r>
            <a:r>
              <a:rPr lang="en-US" sz="2800" dirty="0"/>
              <a:t>and 2 additional days for </a:t>
            </a:r>
            <a:r>
              <a:rPr lang="en-US" sz="2800" dirty="0" smtClean="0"/>
              <a:t>ocular inspections/visitations </a:t>
            </a:r>
            <a:r>
              <a:rPr lang="en-US" sz="2800" dirty="0"/>
              <a:t>of HEIs in a location of </a:t>
            </a:r>
            <a:r>
              <a:rPr lang="en-US" sz="2800" dirty="0" smtClean="0"/>
              <a:t>his choice</a:t>
            </a:r>
            <a:r>
              <a:rPr lang="en-US" sz="2800" dirty="0"/>
              <a:t>.</a:t>
            </a:r>
          </a:p>
          <a:p>
            <a:r>
              <a:rPr lang="en-US" sz="2800" dirty="0" smtClean="0"/>
              <a:t>For </a:t>
            </a:r>
            <a:r>
              <a:rPr lang="en-US" sz="2800" dirty="0"/>
              <a:t>such, he is anticipating additional 30K savings </a:t>
            </a:r>
            <a:r>
              <a:rPr lang="en-US" sz="2800" dirty="0" smtClean="0"/>
              <a:t>for the </a:t>
            </a:r>
            <a:r>
              <a:rPr lang="en-US" sz="2800" dirty="0"/>
              <a:t>allowances to be provided by University A, </a:t>
            </a:r>
            <a:r>
              <a:rPr lang="en-US" sz="2800" dirty="0" smtClean="0"/>
              <a:t>since he </a:t>
            </a:r>
            <a:r>
              <a:rPr lang="en-US" sz="2800" dirty="0"/>
              <a:t>has already communicated to some friends </a:t>
            </a:r>
            <a:r>
              <a:rPr lang="en-US" sz="2800" dirty="0" smtClean="0"/>
              <a:t>and relatives </a:t>
            </a:r>
            <a:r>
              <a:rPr lang="en-US" sz="2800" dirty="0"/>
              <a:t>to accommodate him for his upcoming trip.</a:t>
            </a:r>
            <a:endParaRPr lang="en-US" sz="2600" dirty="0"/>
          </a:p>
        </p:txBody>
      </p:sp>
    </p:spTree>
    <p:extLst>
      <p:ext uri="{BB962C8B-B14F-4D97-AF65-F5344CB8AC3E}">
        <p14:creationId xmlns:p14="http://schemas.microsoft.com/office/powerpoint/2010/main" val="3965369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4586" y="360609"/>
            <a:ext cx="9796552" cy="6284889"/>
          </a:xfrm>
        </p:spPr>
        <p:txBody>
          <a:bodyPr>
            <a:noAutofit/>
          </a:bodyPr>
          <a:lstStyle/>
          <a:p>
            <a:r>
              <a:rPr lang="en-US" sz="2800" dirty="0"/>
              <a:t>(However), University A is undergoing </a:t>
            </a:r>
            <a:r>
              <a:rPr lang="en-US" sz="2800" dirty="0" smtClean="0"/>
              <a:t>budget tightening </a:t>
            </a:r>
            <a:r>
              <a:rPr lang="en-US" sz="2800" dirty="0"/>
              <a:t>due to decrease in enrolment as </a:t>
            </a:r>
            <a:r>
              <a:rPr lang="en-US" sz="2800" dirty="0" smtClean="0"/>
              <a:t>a result </a:t>
            </a:r>
            <a:r>
              <a:rPr lang="en-US" sz="2800" dirty="0"/>
              <a:t>of K to12 implementation.</a:t>
            </a:r>
          </a:p>
          <a:p>
            <a:r>
              <a:rPr lang="en-US" sz="2800" dirty="0" smtClean="0"/>
              <a:t>Dean </a:t>
            </a:r>
            <a:r>
              <a:rPr lang="en-US" sz="2800" dirty="0"/>
              <a:t>Torres argues that the upcoming </a:t>
            </a:r>
            <a:r>
              <a:rPr lang="en-US" sz="2800" dirty="0" smtClean="0"/>
              <a:t>European trip </a:t>
            </a:r>
            <a:r>
              <a:rPr lang="en-US" sz="2800" dirty="0"/>
              <a:t>(his 3rd in a row) has been approved by </a:t>
            </a:r>
            <a:r>
              <a:rPr lang="en-US" sz="2800" dirty="0" smtClean="0"/>
              <a:t>the Academic </a:t>
            </a:r>
            <a:r>
              <a:rPr lang="en-US" sz="2800" dirty="0"/>
              <a:t>Council prior to the </a:t>
            </a:r>
            <a:r>
              <a:rPr lang="en-US" sz="2800" dirty="0" smtClean="0"/>
              <a:t>implementation of </a:t>
            </a:r>
            <a:r>
              <a:rPr lang="en-US" sz="2800" dirty="0"/>
              <a:t>the K to12. Furthermore, the Dean argues </a:t>
            </a:r>
            <a:r>
              <a:rPr lang="en-US" sz="2800" dirty="0" smtClean="0"/>
              <a:t>that the </a:t>
            </a:r>
            <a:r>
              <a:rPr lang="en-US" sz="2800" dirty="0"/>
              <a:t>said official trip is necessary to maintain </a:t>
            </a:r>
            <a:r>
              <a:rPr lang="en-US" sz="2800" dirty="0" smtClean="0"/>
              <a:t>the current </a:t>
            </a:r>
            <a:r>
              <a:rPr lang="en-US" sz="2800" dirty="0"/>
              <a:t>autonomous status of the University (</a:t>
            </a:r>
            <a:r>
              <a:rPr lang="en-US" sz="2800" dirty="0" smtClean="0"/>
              <a:t>A) as </a:t>
            </a:r>
            <a:r>
              <a:rPr lang="en-US" sz="2800" dirty="0"/>
              <a:t>well as the level 4 accreditation of </a:t>
            </a:r>
            <a:r>
              <a:rPr lang="en-US" sz="2800" dirty="0" smtClean="0"/>
              <a:t>his College’s </a:t>
            </a:r>
            <a:r>
              <a:rPr lang="en-US" sz="2800" dirty="0"/>
              <a:t>two prime programs.</a:t>
            </a:r>
            <a:endParaRPr lang="en-US" sz="2600" dirty="0"/>
          </a:p>
        </p:txBody>
      </p:sp>
    </p:spTree>
    <p:extLst>
      <p:ext uri="{BB962C8B-B14F-4D97-AF65-F5344CB8AC3E}">
        <p14:creationId xmlns:p14="http://schemas.microsoft.com/office/powerpoint/2010/main" val="3792819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4586" y="360609"/>
            <a:ext cx="9796552" cy="6284889"/>
          </a:xfrm>
        </p:spPr>
        <p:txBody>
          <a:bodyPr>
            <a:noAutofit/>
          </a:bodyPr>
          <a:lstStyle/>
          <a:p>
            <a:r>
              <a:rPr lang="en-US" sz="2800" dirty="0"/>
              <a:t>Unknown to Dean Torres, the President of University A </a:t>
            </a:r>
            <a:r>
              <a:rPr lang="en-US" sz="2800" dirty="0" smtClean="0"/>
              <a:t>is aware </a:t>
            </a:r>
            <a:r>
              <a:rPr lang="en-US" sz="2800" dirty="0"/>
              <a:t>of his employment in University B because </a:t>
            </a:r>
            <a:r>
              <a:rPr lang="en-US" sz="2800" dirty="0" smtClean="0"/>
              <a:t>her brother </a:t>
            </a:r>
            <a:r>
              <a:rPr lang="en-US" sz="2800" dirty="0"/>
              <a:t>in law is the current president of University </a:t>
            </a:r>
            <a:r>
              <a:rPr lang="en-US" sz="2800" dirty="0" smtClean="0"/>
              <a:t>B. She is likewise aware of the 50K subsidy to be provided by </a:t>
            </a:r>
            <a:r>
              <a:rPr lang="en-US" sz="2800" dirty="0"/>
              <a:t>University B to him (Dean Torres).</a:t>
            </a:r>
          </a:p>
          <a:p>
            <a:r>
              <a:rPr lang="en-US" sz="2800" dirty="0" smtClean="0"/>
              <a:t>Her </a:t>
            </a:r>
            <a:r>
              <a:rPr lang="en-US" sz="2800" dirty="0"/>
              <a:t>brother in law have talked to her secretly to </a:t>
            </a:r>
            <a:r>
              <a:rPr lang="en-US" sz="2800" dirty="0" smtClean="0"/>
              <a:t>support the </a:t>
            </a:r>
            <a:r>
              <a:rPr lang="en-US" sz="2800" dirty="0"/>
              <a:t>European trip of Dean Torres, because if such </a:t>
            </a:r>
            <a:r>
              <a:rPr lang="en-US" sz="2800" dirty="0" smtClean="0"/>
              <a:t>would push </a:t>
            </a:r>
            <a:r>
              <a:rPr lang="en-US" sz="2800" dirty="0"/>
              <a:t>through, it would definitely benefit the </a:t>
            </a:r>
            <a:r>
              <a:rPr lang="en-US" sz="2800" dirty="0" smtClean="0"/>
              <a:t>two universities</a:t>
            </a:r>
            <a:r>
              <a:rPr lang="en-US" sz="2800" dirty="0"/>
              <a:t>.</a:t>
            </a:r>
          </a:p>
          <a:p>
            <a:r>
              <a:rPr lang="en-US" sz="2800" dirty="0" smtClean="0"/>
              <a:t>The </a:t>
            </a:r>
            <a:r>
              <a:rPr lang="en-US" sz="2800" dirty="0"/>
              <a:t>President does not know what to do. Her brother </a:t>
            </a:r>
            <a:r>
              <a:rPr lang="en-US" sz="2800" dirty="0" smtClean="0"/>
              <a:t>in law </a:t>
            </a:r>
            <a:r>
              <a:rPr lang="en-US" sz="2800" dirty="0"/>
              <a:t>was instrumental to her installation as president </a:t>
            </a:r>
            <a:r>
              <a:rPr lang="en-US" sz="2800" dirty="0" smtClean="0"/>
              <a:t>of University </a:t>
            </a:r>
            <a:r>
              <a:rPr lang="en-US" sz="2800" dirty="0"/>
              <a:t>A because of his numerous connections </a:t>
            </a:r>
            <a:r>
              <a:rPr lang="en-US" sz="2800" dirty="0" smtClean="0"/>
              <a:t>in the </a:t>
            </a:r>
            <a:r>
              <a:rPr lang="en-US" sz="2800" dirty="0"/>
              <a:t>academe. He was her principal sponsor too in </a:t>
            </a:r>
            <a:r>
              <a:rPr lang="en-US" sz="2800" dirty="0" smtClean="0"/>
              <a:t>her pursuit </a:t>
            </a:r>
            <a:r>
              <a:rPr lang="en-US" sz="2800" dirty="0"/>
              <a:t>of her </a:t>
            </a:r>
            <a:r>
              <a:rPr lang="en-US" sz="2800" dirty="0" err="1"/>
              <a:t>Ph.D</a:t>
            </a:r>
            <a:r>
              <a:rPr lang="en-US" sz="2800" dirty="0"/>
              <a:t> abroad.</a:t>
            </a:r>
            <a:endParaRPr lang="en-US" sz="2600" dirty="0"/>
          </a:p>
        </p:txBody>
      </p:sp>
    </p:spTree>
    <p:extLst>
      <p:ext uri="{BB962C8B-B14F-4D97-AF65-F5344CB8AC3E}">
        <p14:creationId xmlns:p14="http://schemas.microsoft.com/office/powerpoint/2010/main" val="1923785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Conflict of Interest</a:t>
            </a:r>
            <a:endParaRPr lang="en-US" b="1" dirty="0"/>
          </a:p>
        </p:txBody>
      </p:sp>
      <p:sp>
        <p:nvSpPr>
          <p:cNvPr id="3" name="Content Placeholder 2"/>
          <p:cNvSpPr>
            <a:spLocks noGrp="1"/>
          </p:cNvSpPr>
          <p:nvPr>
            <p:ph idx="1"/>
          </p:nvPr>
        </p:nvSpPr>
        <p:spPr/>
        <p:txBody>
          <a:bodyPr>
            <a:normAutofit/>
          </a:bodyPr>
          <a:lstStyle/>
          <a:p>
            <a:r>
              <a:rPr lang="en-US" sz="2800" dirty="0"/>
              <a:t>a situation in which a person is in a position to derive personal benefit from actions or decisions made in their official capacity</a:t>
            </a:r>
            <a:r>
              <a:rPr lang="en-US" sz="2800" dirty="0" smtClean="0"/>
              <a:t>.</a:t>
            </a:r>
            <a:endParaRPr lang="en-US" sz="2800" dirty="0"/>
          </a:p>
          <a:p>
            <a:pPr marL="457200" lvl="1" indent="0">
              <a:buNone/>
            </a:pPr>
            <a:endParaRPr lang="en-US" sz="2600" dirty="0" smtClean="0"/>
          </a:p>
          <a:p>
            <a:pPr marL="457200" lvl="1" indent="0">
              <a:buNone/>
            </a:pPr>
            <a:r>
              <a:rPr lang="en-US" sz="2600" u="sng" dirty="0" smtClean="0"/>
              <a:t>Example</a:t>
            </a:r>
            <a:r>
              <a:rPr lang="en-US" sz="2600" dirty="0" smtClean="0"/>
              <a:t>: A Teacher pushing for the resumption of classes because she owns a canteen and boarding houses near the university area. </a:t>
            </a:r>
            <a:endParaRPr lang="en-US" sz="2600" dirty="0"/>
          </a:p>
        </p:txBody>
      </p:sp>
    </p:spTree>
    <p:extLst>
      <p:ext uri="{BB962C8B-B14F-4D97-AF65-F5344CB8AC3E}">
        <p14:creationId xmlns:p14="http://schemas.microsoft.com/office/powerpoint/2010/main" val="4158171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2924" y="1635618"/>
            <a:ext cx="8911687" cy="4404394"/>
          </a:xfrm>
        </p:spPr>
        <p:txBody>
          <a:bodyPr>
            <a:noAutofit/>
          </a:bodyPr>
          <a:lstStyle/>
          <a:p>
            <a:pPr marL="0" indent="0">
              <a:buNone/>
            </a:pPr>
            <a:r>
              <a:rPr lang="en-US" sz="2800" dirty="0"/>
              <a:t>The process of making a moral </a:t>
            </a:r>
            <a:r>
              <a:rPr lang="en-US" sz="2800" dirty="0" smtClean="0"/>
              <a:t>decision can </a:t>
            </a:r>
            <a:r>
              <a:rPr lang="en-US" sz="2800" dirty="0"/>
              <a:t>be as important as the decision itself.</a:t>
            </a:r>
          </a:p>
          <a:p>
            <a:pPr marL="0" indent="0">
              <a:buNone/>
            </a:pPr>
            <a:endParaRPr lang="en-US" sz="2800" dirty="0" smtClean="0"/>
          </a:p>
          <a:p>
            <a:pPr marL="0" indent="0">
              <a:buNone/>
            </a:pPr>
            <a:r>
              <a:rPr lang="en-US" sz="2800" dirty="0" smtClean="0"/>
              <a:t>Many </a:t>
            </a:r>
            <a:r>
              <a:rPr lang="en-US" sz="2800" dirty="0"/>
              <a:t>ethical decisions that </a:t>
            </a:r>
            <a:r>
              <a:rPr lang="en-US" sz="2800" dirty="0" smtClean="0"/>
              <a:t>people encounter </a:t>
            </a:r>
            <a:r>
              <a:rPr lang="en-US" sz="2800" dirty="0"/>
              <a:t>are so complex that it is easy </a:t>
            </a:r>
            <a:r>
              <a:rPr lang="en-US" sz="2800" dirty="0" smtClean="0"/>
              <a:t>to exhaust </a:t>
            </a:r>
            <a:r>
              <a:rPr lang="en-US" sz="2800" dirty="0"/>
              <a:t>oneself talking around </a:t>
            </a:r>
            <a:r>
              <a:rPr lang="en-US" sz="2800" dirty="0" smtClean="0"/>
              <a:t>the problem </a:t>
            </a:r>
            <a:r>
              <a:rPr lang="en-US" sz="2800" dirty="0"/>
              <a:t>without actually making </a:t>
            </a:r>
            <a:r>
              <a:rPr lang="en-US" sz="2800" dirty="0" smtClean="0"/>
              <a:t>any progress </a:t>
            </a:r>
            <a:r>
              <a:rPr lang="en-US" sz="2800" dirty="0"/>
              <a:t>towards resolving it</a:t>
            </a:r>
            <a:r>
              <a:rPr lang="en-US" sz="2800" dirty="0" smtClean="0"/>
              <a:t>.</a:t>
            </a:r>
            <a:endParaRPr lang="en-US" sz="2800" dirty="0"/>
          </a:p>
        </p:txBody>
      </p:sp>
    </p:spTree>
    <p:extLst>
      <p:ext uri="{BB962C8B-B14F-4D97-AF65-F5344CB8AC3E}">
        <p14:creationId xmlns:p14="http://schemas.microsoft.com/office/powerpoint/2010/main" val="1067579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338259" y="35076"/>
            <a:ext cx="2806520" cy="1995314"/>
          </a:xfrm>
          <a:prstGeom prst="rect">
            <a:avLst/>
          </a:prstGeom>
        </p:spPr>
      </p:pic>
      <p:sp>
        <p:nvSpPr>
          <p:cNvPr id="3" name="Content Placeholder 2"/>
          <p:cNvSpPr>
            <a:spLocks noGrp="1"/>
          </p:cNvSpPr>
          <p:nvPr>
            <p:ph idx="1"/>
          </p:nvPr>
        </p:nvSpPr>
        <p:spPr>
          <a:xfrm>
            <a:off x="1867993" y="1687133"/>
            <a:ext cx="8915400" cy="4842456"/>
          </a:xfrm>
        </p:spPr>
        <p:txBody>
          <a:bodyPr>
            <a:normAutofit lnSpcReduction="10000"/>
          </a:bodyPr>
          <a:lstStyle/>
          <a:p>
            <a:r>
              <a:rPr lang="en-US" sz="2800" dirty="0"/>
              <a:t>Moral Philosophy is an attempt </a:t>
            </a:r>
            <a:r>
              <a:rPr lang="en-US" sz="2800" dirty="0" smtClean="0"/>
              <a:t>to achieve </a:t>
            </a:r>
            <a:r>
              <a:rPr lang="en-US" sz="2800" dirty="0"/>
              <a:t>a systematic </a:t>
            </a:r>
            <a:r>
              <a:rPr lang="en-US" sz="2800" dirty="0" smtClean="0"/>
              <a:t>understanding of </a:t>
            </a:r>
            <a:r>
              <a:rPr lang="en-US" sz="2800" dirty="0"/>
              <a:t>the nature of morality and what </a:t>
            </a:r>
            <a:r>
              <a:rPr lang="en-US" sz="2800" dirty="0" smtClean="0"/>
              <a:t>it requires </a:t>
            </a:r>
            <a:r>
              <a:rPr lang="en-US" sz="2800" dirty="0"/>
              <a:t>of us, “how we ought </a:t>
            </a:r>
            <a:r>
              <a:rPr lang="en-US" sz="2800" dirty="0" smtClean="0"/>
              <a:t>to live… and </a:t>
            </a:r>
            <a:r>
              <a:rPr lang="en-US" sz="2800" dirty="0"/>
              <a:t>why</a:t>
            </a:r>
            <a:r>
              <a:rPr lang="en-US" sz="2800" dirty="0" smtClean="0"/>
              <a:t>”.</a:t>
            </a:r>
          </a:p>
          <a:p>
            <a:pPr marL="0" indent="0">
              <a:buNone/>
            </a:pPr>
            <a:endParaRPr lang="en-US" sz="2800" dirty="0" smtClean="0"/>
          </a:p>
          <a:p>
            <a:r>
              <a:rPr lang="en-US" sz="2800" u="sng" dirty="0" smtClean="0"/>
              <a:t>The </a:t>
            </a:r>
            <a:r>
              <a:rPr lang="en-US" sz="2800" u="sng" dirty="0"/>
              <a:t>Role of </a:t>
            </a:r>
            <a:r>
              <a:rPr lang="en-US" sz="2800" u="sng" dirty="0" smtClean="0"/>
              <a:t>Reason</a:t>
            </a:r>
            <a:r>
              <a:rPr lang="en-US" sz="2800" dirty="0" smtClean="0"/>
              <a:t>: Reason </a:t>
            </a:r>
            <a:r>
              <a:rPr lang="en-US" sz="2800" dirty="0"/>
              <a:t>is a faculty that is </a:t>
            </a:r>
            <a:r>
              <a:rPr lang="en-US" sz="2800" dirty="0" smtClean="0"/>
              <a:t>used by </a:t>
            </a:r>
            <a:r>
              <a:rPr lang="en-US" sz="2800" dirty="0"/>
              <a:t>man in dealing with issues</a:t>
            </a:r>
            <a:r>
              <a:rPr lang="en-US" sz="2800" dirty="0" smtClean="0"/>
              <a:t>.</a:t>
            </a:r>
          </a:p>
          <a:p>
            <a:pPr marL="0" indent="0">
              <a:buNone/>
            </a:pPr>
            <a:endParaRPr lang="en-US" sz="2800" dirty="0"/>
          </a:p>
          <a:p>
            <a:r>
              <a:rPr lang="en-US" sz="2800" dirty="0" smtClean="0"/>
              <a:t>Moral </a:t>
            </a:r>
            <a:r>
              <a:rPr lang="en-US" sz="2800" dirty="0"/>
              <a:t>judgements are not </a:t>
            </a:r>
            <a:r>
              <a:rPr lang="en-US" sz="2800" dirty="0" smtClean="0"/>
              <a:t>a matter </a:t>
            </a:r>
            <a:r>
              <a:rPr lang="en-US" sz="2800" dirty="0"/>
              <a:t>of personal </a:t>
            </a:r>
            <a:r>
              <a:rPr lang="en-US" sz="2800" dirty="0" smtClean="0"/>
              <a:t>preferences or </a:t>
            </a:r>
            <a:r>
              <a:rPr lang="en-US" sz="2800" dirty="0"/>
              <a:t>tastes.</a:t>
            </a:r>
          </a:p>
        </p:txBody>
      </p:sp>
      <p:sp>
        <p:nvSpPr>
          <p:cNvPr id="4" name="Title 1"/>
          <p:cNvSpPr>
            <a:spLocks noGrp="1"/>
          </p:cNvSpPr>
          <p:nvPr>
            <p:ph type="title"/>
          </p:nvPr>
        </p:nvSpPr>
        <p:spPr>
          <a:xfrm>
            <a:off x="2322466" y="430925"/>
            <a:ext cx="8911687" cy="1280890"/>
          </a:xfrm>
        </p:spPr>
        <p:txBody>
          <a:bodyPr/>
          <a:lstStyle/>
          <a:p>
            <a:r>
              <a:rPr lang="en-US" b="1" dirty="0"/>
              <a:t>MORALITY </a:t>
            </a:r>
            <a:r>
              <a:rPr lang="en-US" b="1" dirty="0" smtClean="0"/>
              <a:t>AND REASON</a:t>
            </a:r>
            <a:endParaRPr lang="en-US" dirty="0"/>
          </a:p>
        </p:txBody>
      </p:sp>
    </p:spTree>
    <p:extLst>
      <p:ext uri="{BB962C8B-B14F-4D97-AF65-F5344CB8AC3E}">
        <p14:creationId xmlns:p14="http://schemas.microsoft.com/office/powerpoint/2010/main" val="2882969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1527" y="721221"/>
            <a:ext cx="9753085" cy="5563492"/>
          </a:xfrm>
        </p:spPr>
        <p:txBody>
          <a:bodyPr>
            <a:normAutofit fontScale="92500" lnSpcReduction="20000"/>
          </a:bodyPr>
          <a:lstStyle/>
          <a:p>
            <a:r>
              <a:rPr lang="en-US" sz="2800" b="1" dirty="0"/>
              <a:t>MORAL </a:t>
            </a:r>
            <a:r>
              <a:rPr lang="en-US" sz="2800" b="1" dirty="0" smtClean="0"/>
              <a:t>REASONING </a:t>
            </a:r>
            <a:r>
              <a:rPr lang="en-US" sz="2800" dirty="0" smtClean="0"/>
              <a:t>is </a:t>
            </a:r>
            <a:r>
              <a:rPr lang="en-US" sz="2800" dirty="0"/>
              <a:t>a process by which one thinks about the </a:t>
            </a:r>
            <a:r>
              <a:rPr lang="en-US" sz="2800" dirty="0" smtClean="0"/>
              <a:t>moral dilemma </a:t>
            </a:r>
            <a:r>
              <a:rPr lang="en-US" sz="2800" dirty="0"/>
              <a:t>in ways </a:t>
            </a:r>
            <a:r>
              <a:rPr lang="en-US" sz="2800" dirty="0" smtClean="0"/>
              <a:t>that:</a:t>
            </a:r>
            <a:endParaRPr lang="en-US" sz="2800" dirty="0"/>
          </a:p>
          <a:p>
            <a:pPr marL="0" indent="0">
              <a:buNone/>
            </a:pPr>
            <a:endParaRPr lang="en-US" sz="2800" dirty="0" smtClean="0"/>
          </a:p>
          <a:p>
            <a:pPr>
              <a:buFont typeface="+mj-lt"/>
              <a:buAutoNum type="arabicPeriod"/>
            </a:pPr>
            <a:r>
              <a:rPr lang="en-US" sz="2800" dirty="0"/>
              <a:t>I</a:t>
            </a:r>
            <a:r>
              <a:rPr lang="en-US" sz="2800" dirty="0" smtClean="0"/>
              <a:t>dentify </a:t>
            </a:r>
            <a:r>
              <a:rPr lang="en-US" sz="2800" dirty="0"/>
              <a:t>(as comprehensively as possible) </a:t>
            </a:r>
            <a:r>
              <a:rPr lang="en-US" sz="2800" dirty="0" smtClean="0"/>
              <a:t>the morally </a:t>
            </a:r>
            <a:r>
              <a:rPr lang="en-US" sz="2800" dirty="0"/>
              <a:t>relevant aspects of the </a:t>
            </a:r>
            <a:r>
              <a:rPr lang="en-US" sz="2800" dirty="0" smtClean="0"/>
              <a:t>situation;</a:t>
            </a:r>
          </a:p>
          <a:p>
            <a:pPr>
              <a:buFont typeface="+mj-lt"/>
              <a:buAutoNum type="arabicPeriod" startAt="2"/>
            </a:pPr>
            <a:r>
              <a:rPr lang="en-US" sz="2800" dirty="0" smtClean="0"/>
              <a:t>Weigh </a:t>
            </a:r>
            <a:r>
              <a:rPr lang="en-US" sz="2800" dirty="0"/>
              <a:t>the significance of the morally </a:t>
            </a:r>
            <a:r>
              <a:rPr lang="en-US" sz="2800" dirty="0" smtClean="0"/>
              <a:t>relevant aspects</a:t>
            </a:r>
            <a:r>
              <a:rPr lang="en-US" sz="2800" dirty="0"/>
              <a:t>, giving due importance to the views </a:t>
            </a:r>
            <a:r>
              <a:rPr lang="en-US" sz="2800" dirty="0" smtClean="0"/>
              <a:t>of the </a:t>
            </a:r>
            <a:r>
              <a:rPr lang="en-US" sz="2800" dirty="0"/>
              <a:t>persons’ concerned of what </a:t>
            </a:r>
            <a:r>
              <a:rPr lang="en-US" sz="2800" dirty="0" smtClean="0"/>
              <a:t>constitutes benefit </a:t>
            </a:r>
            <a:r>
              <a:rPr lang="en-US" sz="2800" dirty="0"/>
              <a:t>and </a:t>
            </a:r>
            <a:r>
              <a:rPr lang="en-US" sz="2800" dirty="0" smtClean="0"/>
              <a:t>harm;</a:t>
            </a:r>
          </a:p>
          <a:p>
            <a:pPr>
              <a:buFont typeface="+mj-lt"/>
              <a:buAutoNum type="arabicPeriod" startAt="2"/>
            </a:pPr>
            <a:r>
              <a:rPr lang="en-US" sz="2800" dirty="0" smtClean="0"/>
              <a:t>Identify </a:t>
            </a:r>
            <a:r>
              <a:rPr lang="en-US" sz="2800" dirty="0"/>
              <a:t>(as comprehensively as </a:t>
            </a:r>
            <a:r>
              <a:rPr lang="en-US" sz="2800" dirty="0" smtClean="0"/>
              <a:t>possible)all </a:t>
            </a:r>
            <a:r>
              <a:rPr lang="en-US" sz="2800" dirty="0"/>
              <a:t>the possible actions that could </a:t>
            </a:r>
            <a:r>
              <a:rPr lang="en-US" sz="2800" dirty="0" smtClean="0"/>
              <a:t>be pursued </a:t>
            </a:r>
            <a:r>
              <a:rPr lang="en-US" sz="2800" dirty="0"/>
              <a:t>and their most likely </a:t>
            </a:r>
            <a:r>
              <a:rPr lang="en-US" sz="2800" dirty="0" smtClean="0"/>
              <a:t>consequences; and,</a:t>
            </a:r>
          </a:p>
          <a:p>
            <a:pPr>
              <a:buFont typeface="+mj-lt"/>
              <a:buAutoNum type="arabicPeriod" startAt="2"/>
            </a:pPr>
            <a:r>
              <a:rPr lang="en-US" sz="2800" dirty="0"/>
              <a:t>C</a:t>
            </a:r>
            <a:r>
              <a:rPr lang="en-US" sz="2800" dirty="0" smtClean="0"/>
              <a:t>onsider </a:t>
            </a:r>
            <a:r>
              <a:rPr lang="en-US" sz="2800" dirty="0"/>
              <a:t>all of the above elements </a:t>
            </a:r>
            <a:r>
              <a:rPr lang="en-US" sz="2800" dirty="0" smtClean="0"/>
              <a:t>and come </a:t>
            </a:r>
            <a:r>
              <a:rPr lang="en-US" sz="2800" dirty="0"/>
              <a:t>to a </a:t>
            </a:r>
            <a:r>
              <a:rPr lang="en-US" sz="2800" dirty="0" smtClean="0"/>
              <a:t>decision </a:t>
            </a:r>
            <a:r>
              <a:rPr lang="en-US" sz="2800" dirty="0"/>
              <a:t>about which action </a:t>
            </a:r>
            <a:r>
              <a:rPr lang="en-US" sz="2800" dirty="0" smtClean="0"/>
              <a:t>is reasoned </a:t>
            </a:r>
            <a:r>
              <a:rPr lang="en-US" sz="2800" dirty="0"/>
              <a:t>to be the most ethically justified.</a:t>
            </a:r>
          </a:p>
        </p:txBody>
      </p:sp>
    </p:spTree>
    <p:extLst>
      <p:ext uri="{BB962C8B-B14F-4D97-AF65-F5344CB8AC3E}">
        <p14:creationId xmlns:p14="http://schemas.microsoft.com/office/powerpoint/2010/main" val="3468594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0722" y="343436"/>
            <a:ext cx="8915400" cy="3777622"/>
          </a:xfrm>
        </p:spPr>
        <p:txBody>
          <a:bodyPr>
            <a:noAutofit/>
          </a:bodyPr>
          <a:lstStyle/>
          <a:p>
            <a:pPr marL="0" indent="0">
              <a:buNone/>
            </a:pPr>
            <a:r>
              <a:rPr lang="en-US" sz="2600" b="1" dirty="0"/>
              <a:t>On Impartiality:</a:t>
            </a:r>
          </a:p>
          <a:p>
            <a:r>
              <a:rPr lang="en-US" sz="2600" dirty="0" smtClean="0"/>
              <a:t>Each </a:t>
            </a:r>
            <a:r>
              <a:rPr lang="en-US" sz="2600" dirty="0"/>
              <a:t>individual’s interests are </a:t>
            </a:r>
            <a:r>
              <a:rPr lang="en-US" sz="2600" dirty="0" smtClean="0"/>
              <a:t>equally important</a:t>
            </a:r>
            <a:r>
              <a:rPr lang="en-US" sz="2600" dirty="0"/>
              <a:t>.</a:t>
            </a:r>
          </a:p>
          <a:p>
            <a:r>
              <a:rPr lang="en-US" sz="2600" dirty="0" smtClean="0"/>
              <a:t>Therefore</a:t>
            </a:r>
            <a:r>
              <a:rPr lang="en-US" sz="2600" dirty="0"/>
              <a:t>, each must acknowledge </a:t>
            </a:r>
            <a:r>
              <a:rPr lang="en-US" sz="2600" dirty="0" smtClean="0"/>
              <a:t>that other </a:t>
            </a:r>
            <a:r>
              <a:rPr lang="en-US" sz="2600" dirty="0"/>
              <a:t>person’s welfare is </a:t>
            </a:r>
            <a:r>
              <a:rPr lang="en-US" sz="2600" dirty="0" smtClean="0"/>
              <a:t>equally important </a:t>
            </a:r>
            <a:r>
              <a:rPr lang="en-US" sz="2600" dirty="0"/>
              <a:t>as our own.</a:t>
            </a:r>
          </a:p>
          <a:p>
            <a:r>
              <a:rPr lang="en-US" sz="2600" dirty="0" smtClean="0"/>
              <a:t>Impartiality </a:t>
            </a:r>
            <a:r>
              <a:rPr lang="en-US" sz="2600" dirty="0"/>
              <a:t>entails a proscription </a:t>
            </a:r>
            <a:r>
              <a:rPr lang="en-US" sz="2600" dirty="0" smtClean="0"/>
              <a:t>against arbitrariness </a:t>
            </a:r>
            <a:r>
              <a:rPr lang="en-US" sz="2600" dirty="0"/>
              <a:t>in dealing with people</a:t>
            </a:r>
            <a:r>
              <a:rPr lang="en-US" sz="2600" dirty="0" smtClean="0"/>
              <a:t>.</a:t>
            </a:r>
          </a:p>
          <a:p>
            <a:r>
              <a:rPr lang="en-US" sz="2600" dirty="0"/>
              <a:t>A conscientious moral agent is </a:t>
            </a:r>
            <a:r>
              <a:rPr lang="en-US" sz="2600" dirty="0" smtClean="0"/>
              <a:t>someone who </a:t>
            </a:r>
            <a:r>
              <a:rPr lang="en-US" sz="2600" dirty="0"/>
              <a:t>is concerned impartially with </a:t>
            </a:r>
            <a:r>
              <a:rPr lang="en-US" sz="2600" dirty="0" smtClean="0"/>
              <a:t>the interest </a:t>
            </a:r>
            <a:r>
              <a:rPr lang="en-US" sz="2600" dirty="0"/>
              <a:t>of everyone affected by what he </a:t>
            </a:r>
            <a:r>
              <a:rPr lang="en-US" sz="2600" dirty="0" smtClean="0"/>
              <a:t>or she </a:t>
            </a:r>
            <a:r>
              <a:rPr lang="en-US" sz="2600" dirty="0"/>
              <a:t>does;</a:t>
            </a:r>
          </a:p>
          <a:p>
            <a:r>
              <a:rPr lang="en-US" sz="2600" dirty="0" smtClean="0"/>
              <a:t>Someone </a:t>
            </a:r>
            <a:r>
              <a:rPr lang="en-US" sz="2600" dirty="0"/>
              <a:t>who carefully sifts facts </a:t>
            </a:r>
            <a:r>
              <a:rPr lang="en-US" sz="2600" dirty="0" smtClean="0"/>
              <a:t>and examines </a:t>
            </a:r>
            <a:r>
              <a:rPr lang="en-US" sz="2600" dirty="0"/>
              <a:t>their implications</a:t>
            </a:r>
            <a:r>
              <a:rPr lang="en-US" sz="2600" dirty="0" smtClean="0"/>
              <a:t>;</a:t>
            </a:r>
          </a:p>
          <a:p>
            <a:r>
              <a:rPr lang="en-US" sz="2600" dirty="0" smtClean="0"/>
              <a:t>Someone </a:t>
            </a:r>
            <a:r>
              <a:rPr lang="en-US" sz="2600" dirty="0"/>
              <a:t>who accepts principles </a:t>
            </a:r>
            <a:r>
              <a:rPr lang="en-US" sz="2600" dirty="0" smtClean="0"/>
              <a:t>of conduct </a:t>
            </a:r>
            <a:r>
              <a:rPr lang="en-US" sz="2600" dirty="0"/>
              <a:t>only after </a:t>
            </a:r>
            <a:r>
              <a:rPr lang="en-US" sz="2600" dirty="0" smtClean="0"/>
              <a:t>scrutinizing </a:t>
            </a:r>
            <a:r>
              <a:rPr lang="en-US" sz="2600" dirty="0"/>
              <a:t>them </a:t>
            </a:r>
            <a:r>
              <a:rPr lang="en-US" sz="2600" dirty="0" smtClean="0"/>
              <a:t>to make </a:t>
            </a:r>
            <a:r>
              <a:rPr lang="en-US" sz="2600" dirty="0"/>
              <a:t>sure they are sound;</a:t>
            </a:r>
          </a:p>
        </p:txBody>
      </p:sp>
    </p:spTree>
    <p:extLst>
      <p:ext uri="{BB962C8B-B14F-4D97-AF65-F5344CB8AC3E}">
        <p14:creationId xmlns:p14="http://schemas.microsoft.com/office/powerpoint/2010/main" val="3266975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nature of </a:t>
            </a:r>
            <a:r>
              <a:rPr lang="en-US" b="1" dirty="0" smtClean="0"/>
              <a:t>morality implies </a:t>
            </a:r>
            <a:r>
              <a:rPr lang="en-US" b="1" dirty="0"/>
              <a:t>two main</a:t>
            </a:r>
            <a:br>
              <a:rPr lang="en-US" b="1" dirty="0"/>
            </a:br>
            <a:r>
              <a:rPr lang="en-US" b="1" dirty="0"/>
              <a:t>points:</a:t>
            </a:r>
            <a:br>
              <a:rPr lang="en-US" b="1" dirty="0"/>
            </a:br>
            <a:endParaRPr lang="en-US" b="1" dirty="0"/>
          </a:p>
        </p:txBody>
      </p:sp>
      <p:sp>
        <p:nvSpPr>
          <p:cNvPr id="3" name="Content Placeholder 2"/>
          <p:cNvSpPr>
            <a:spLocks noGrp="1"/>
          </p:cNvSpPr>
          <p:nvPr>
            <p:ph idx="1"/>
          </p:nvPr>
        </p:nvSpPr>
        <p:spPr/>
        <p:txBody>
          <a:bodyPr>
            <a:normAutofit/>
          </a:bodyPr>
          <a:lstStyle/>
          <a:p>
            <a:pPr>
              <a:buAutoNum type="arabicPeriod"/>
            </a:pPr>
            <a:r>
              <a:rPr lang="en-US" sz="2800" dirty="0" smtClean="0"/>
              <a:t>That </a:t>
            </a:r>
            <a:r>
              <a:rPr lang="en-US" sz="2800" dirty="0"/>
              <a:t>moral judgments must be </a:t>
            </a:r>
            <a:r>
              <a:rPr lang="en-US" sz="2800" dirty="0" smtClean="0"/>
              <a:t>backed up </a:t>
            </a:r>
            <a:r>
              <a:rPr lang="en-US" sz="2800" dirty="0"/>
              <a:t>by good </a:t>
            </a:r>
            <a:r>
              <a:rPr lang="en-US" sz="2800" dirty="0" smtClean="0"/>
              <a:t>reasons;</a:t>
            </a:r>
          </a:p>
          <a:p>
            <a:pPr>
              <a:buAutoNum type="arabicPeriod"/>
            </a:pPr>
            <a:endParaRPr lang="en-US" sz="2800" dirty="0" smtClean="0"/>
          </a:p>
          <a:p>
            <a:pPr>
              <a:buAutoNum type="arabicPeriod"/>
            </a:pPr>
            <a:r>
              <a:rPr lang="en-US" sz="2800" dirty="0" smtClean="0"/>
              <a:t>Morality </a:t>
            </a:r>
            <a:r>
              <a:rPr lang="en-US" sz="2800" dirty="0"/>
              <a:t>requires the </a:t>
            </a:r>
            <a:r>
              <a:rPr lang="en-US" sz="2800" dirty="0" smtClean="0"/>
              <a:t>impartial consideration </a:t>
            </a:r>
            <a:r>
              <a:rPr lang="en-US" sz="2800" dirty="0"/>
              <a:t>of each individual’s interest.</a:t>
            </a:r>
          </a:p>
        </p:txBody>
      </p:sp>
    </p:spTree>
    <p:extLst>
      <p:ext uri="{BB962C8B-B14F-4D97-AF65-F5344CB8AC3E}">
        <p14:creationId xmlns:p14="http://schemas.microsoft.com/office/powerpoint/2010/main" val="1342448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84A92382FF25B44B7DF65B12BEADE66" ma:contentTypeVersion="7" ma:contentTypeDescription="Create a new document." ma:contentTypeScope="" ma:versionID="c987230984f3fdaa154004c97f060e29">
  <xsd:schema xmlns:xsd="http://www.w3.org/2001/XMLSchema" xmlns:xs="http://www.w3.org/2001/XMLSchema" xmlns:p="http://schemas.microsoft.com/office/2006/metadata/properties" xmlns:ns2="866e2459-4d4f-4228-b004-32f282435ffc" targetNamespace="http://schemas.microsoft.com/office/2006/metadata/properties" ma:root="true" ma:fieldsID="3148b43669c1e93d2374ea8354b0f74e" ns2:_="">
    <xsd:import namespace="866e2459-4d4f-4228-b004-32f282435f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6e2459-4d4f-4228-b004-32f282435f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2E85353-FD2F-4677-9D4E-29E75AC186EB}"/>
</file>

<file path=customXml/itemProps2.xml><?xml version="1.0" encoding="utf-8"?>
<ds:datastoreItem xmlns:ds="http://schemas.openxmlformats.org/officeDocument/2006/customXml" ds:itemID="{928A4F77-522F-4A4B-96CD-CC10CE027E8B}"/>
</file>

<file path=customXml/itemProps3.xml><?xml version="1.0" encoding="utf-8"?>
<ds:datastoreItem xmlns:ds="http://schemas.openxmlformats.org/officeDocument/2006/customXml" ds:itemID="{7814C19A-705D-4D2E-ABAA-24A2D45B3417}"/>
</file>

<file path=docProps/app.xml><?xml version="1.0" encoding="utf-8"?>
<Properties xmlns="http://schemas.openxmlformats.org/officeDocument/2006/extended-properties" xmlns:vt="http://schemas.openxmlformats.org/officeDocument/2006/docPropsVTypes">
  <Template>Wisp</Template>
  <TotalTime>581</TotalTime>
  <Words>1264</Words>
  <Application>Microsoft Office PowerPoint</Application>
  <PresentationFormat>Widescreen</PresentationFormat>
  <Paragraphs>84</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Century Gothic</vt:lpstr>
      <vt:lpstr>Wingdings 3</vt:lpstr>
      <vt:lpstr>Wisp</vt:lpstr>
      <vt:lpstr>MORAL DILEMMAS AND THE MINIMUM REQUIREMENTS OF MORALITY</vt:lpstr>
      <vt:lpstr>Objectives:</vt:lpstr>
      <vt:lpstr>PowerPoint Presentation</vt:lpstr>
      <vt:lpstr>WHAT IS A MORAL DILEMMA?</vt:lpstr>
      <vt:lpstr>WHAT IS A MORAL DILEMMA?</vt:lpstr>
      <vt:lpstr>EXAMPLE OF A MORAL DILEMMA</vt:lpstr>
      <vt:lpstr>TYPES OF MORAL DILEMMAS</vt:lpstr>
      <vt:lpstr>TYPES OF MORAL DILEMMAS</vt:lpstr>
      <vt:lpstr>THREE LEVELS OF MORAL DILEMMAS</vt:lpstr>
      <vt:lpstr>THREE LEVELS OF MORAL DILEMMAS</vt:lpstr>
      <vt:lpstr>THREE LEVELS OF MORAL DILEMMAS</vt:lpstr>
      <vt:lpstr>PowerPoint Presentation</vt:lpstr>
      <vt:lpstr>PowerPoint Presentation</vt:lpstr>
      <vt:lpstr>PowerPoint Presentation</vt:lpstr>
      <vt:lpstr>PowerPoint Presentation</vt:lpstr>
      <vt:lpstr>Conflict of Interest</vt:lpstr>
      <vt:lpstr>PowerPoint Presentation</vt:lpstr>
      <vt:lpstr>MORALITY AND REASON</vt:lpstr>
      <vt:lpstr>PowerPoint Presentation</vt:lpstr>
      <vt:lpstr>PowerPoint Presentation</vt:lpstr>
      <vt:lpstr>The nature of morality implies two main points: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Inquiry on Philosophical Ethics: An Introduction</dc:title>
  <dc:creator>SS</dc:creator>
  <cp:lastModifiedBy>EOS</cp:lastModifiedBy>
  <cp:revision>33</cp:revision>
  <dcterms:created xsi:type="dcterms:W3CDTF">2020-01-21T10:37:37Z</dcterms:created>
  <dcterms:modified xsi:type="dcterms:W3CDTF">2026-02-27T05:47:21Z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0x010100884A92382FF25B44B7DF65B12BEADE66</vt:lpwstr>
  </property>
</Properties>
</file>