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6" r:id="rId12"/>
    <p:sldId id="275" r:id="rId13"/>
    <p:sldId id="287" r:id="rId14"/>
    <p:sldId id="277" r:id="rId15"/>
    <p:sldId id="288" r:id="rId16"/>
    <p:sldId id="289" r:id="rId17"/>
    <p:sldId id="290" r:id="rId18"/>
    <p:sldId id="291" r:id="rId19"/>
    <p:sldId id="29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0" autoAdjust="0"/>
    <p:restoredTop sz="94660"/>
  </p:normalViewPr>
  <p:slideViewPr>
    <p:cSldViewPr>
      <p:cViewPr varScale="1">
        <p:scale>
          <a:sx n="87" d="100"/>
          <a:sy n="87" d="100"/>
        </p:scale>
        <p:origin x="-143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CF14246-BE03-4E13-8F12-9F3B62EF5F3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566CFFB-DC45-41DE-B2E6-F7E81A2920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Introduction to the study of Ethics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Ethics and Morality</a:t>
            </a:r>
          </a:p>
        </p:txBody>
      </p:sp>
    </p:spTree>
    <p:extLst>
      <p:ext uri="{BB962C8B-B14F-4D97-AF65-F5344CB8AC3E}">
        <p14:creationId xmlns:p14="http://schemas.microsoft.com/office/powerpoint/2010/main" val="937772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At the end of the module, the students should be able to: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Define ethics and morality;</a:t>
            </a:r>
          </a:p>
          <a:p>
            <a:pPr lvl="0"/>
            <a:r>
              <a:rPr lang="en-US" dirty="0"/>
              <a:t>Explain why they have to follow rules;</a:t>
            </a:r>
          </a:p>
          <a:p>
            <a:pPr lvl="0"/>
            <a:r>
              <a:rPr lang="en-US" dirty="0"/>
              <a:t>Distinguish the concept of moral standards from non-moral standards and amoral standards; </a:t>
            </a:r>
          </a:p>
          <a:p>
            <a:pPr lvl="0"/>
            <a:r>
              <a:rPr lang="en-US" dirty="0"/>
              <a:t>Articulate the differences of ordinary rules from moral rules/standards. </a:t>
            </a:r>
          </a:p>
        </p:txBody>
      </p:sp>
    </p:spTree>
    <p:extLst>
      <p:ext uri="{BB962C8B-B14F-4D97-AF65-F5344CB8AC3E}">
        <p14:creationId xmlns:p14="http://schemas.microsoft.com/office/powerpoint/2010/main" val="3449172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6683765" cy="960668"/>
          </a:xfrm>
        </p:spPr>
        <p:txBody>
          <a:bodyPr/>
          <a:lstStyle/>
          <a:p>
            <a:r>
              <a:rPr lang="en-US" b="1" dirty="0"/>
              <a:t>Ethics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95059" cy="371085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Ethics comes from the Greek word "ethos“ meaning ”character”.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Ethics refers to the rules of conduct recognized in respect to a particular class of human actions or a particular group or culture.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Ethics comes from social system (external source). We do it because society says it is the right thing to do.</a:t>
            </a:r>
          </a:p>
        </p:txBody>
      </p:sp>
    </p:spTree>
    <p:extLst>
      <p:ext uri="{BB962C8B-B14F-4D97-AF65-F5344CB8AC3E}">
        <p14:creationId xmlns:p14="http://schemas.microsoft.com/office/powerpoint/2010/main" val="261199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3337"/>
            <a:ext cx="6683765" cy="960668"/>
          </a:xfrm>
        </p:spPr>
        <p:txBody>
          <a:bodyPr/>
          <a:lstStyle/>
          <a:p>
            <a:r>
              <a:rPr lang="en-US" b="1" dirty="0"/>
              <a:t>Ethics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323659" cy="386325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Ethics are dependent on others for definition. They tend to be consistent within a certain context, but can vary between contexts.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Ethics are governed by professional and legal guidelines within a particular time and place.</a:t>
            </a:r>
          </a:p>
        </p:txBody>
      </p:sp>
    </p:spTree>
    <p:extLst>
      <p:ext uri="{BB962C8B-B14F-4D97-AF65-F5344CB8AC3E}">
        <p14:creationId xmlns:p14="http://schemas.microsoft.com/office/powerpoint/2010/main" val="791518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6683765" cy="960668"/>
          </a:xfrm>
        </p:spPr>
        <p:txBody>
          <a:bodyPr/>
          <a:lstStyle/>
          <a:p>
            <a:r>
              <a:rPr lang="en-US" b="1" dirty="0"/>
              <a:t>Moral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99341"/>
            <a:ext cx="8095059" cy="393945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800" dirty="0"/>
              <a:t>Moral comes from the Latin word "mores“ meaning “custom".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/>
              <a:t>Morals are the Principles or habits with respect to right or wrong conduct. While morals also prescribe dos and don'ts, morality is ultimately a personal compass of right and wrong.</a:t>
            </a:r>
          </a:p>
        </p:txBody>
      </p:sp>
    </p:spTree>
    <p:extLst>
      <p:ext uri="{BB962C8B-B14F-4D97-AF65-F5344CB8AC3E}">
        <p14:creationId xmlns:p14="http://schemas.microsoft.com/office/powerpoint/2010/main" val="1392640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3337"/>
            <a:ext cx="6683765" cy="960668"/>
          </a:xfrm>
        </p:spPr>
        <p:txBody>
          <a:bodyPr/>
          <a:lstStyle/>
          <a:p>
            <a:r>
              <a:rPr lang="en-US" b="1" dirty="0"/>
              <a:t>Moral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247459" cy="371085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800" dirty="0"/>
              <a:t>Morality comes from individual themselves (internal source). We do it (or we do not do it) because we believe on something being right or wrong.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/>
              <a:t>Moral is usually consistent, although can change if an individual’s beliefs change.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/>
              <a:t>Moral transcends cultural norms.</a:t>
            </a:r>
          </a:p>
        </p:txBody>
      </p:sp>
    </p:spTree>
    <p:extLst>
      <p:ext uri="{BB962C8B-B14F-4D97-AF65-F5344CB8AC3E}">
        <p14:creationId xmlns:p14="http://schemas.microsoft.com/office/powerpoint/2010/main" val="2738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 summarize: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1"/>
            <a:ext cx="8247459" cy="330302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Ethics are codes of conduct that pertain to a community, family, company or a nation. On the other hand, morality refers to personal sets of beliefs about what is right and wrong.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Ethics is accepted by the entity of the community but morals are not.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People have their morals that may or may not be in sync with society’s ethics.</a:t>
            </a:r>
          </a:p>
        </p:txBody>
      </p:sp>
    </p:spTree>
    <p:extLst>
      <p:ext uri="{BB962C8B-B14F-4D97-AF65-F5344CB8AC3E}">
        <p14:creationId xmlns:p14="http://schemas.microsoft.com/office/powerpoint/2010/main" val="1001254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Thus, the study of ethics…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1"/>
            <a:ext cx="8095059" cy="330302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It is about the moral decision process (HOW we arrive at the moral decision).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Ethics is not solely about theoretical knowledge but the application of that knowledge…how to transform such knowledge into action in our everyday life.</a:t>
            </a:r>
          </a:p>
        </p:txBody>
      </p:sp>
    </p:spTree>
    <p:extLst>
      <p:ext uri="{BB962C8B-B14F-4D97-AF65-F5344CB8AC3E}">
        <p14:creationId xmlns:p14="http://schemas.microsoft.com/office/powerpoint/2010/main" val="2217386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Meta-Ethics – descriptive in nature. Describe or Explains why an ‘Act’ is good or bad/ right or wrong.</a:t>
            </a:r>
          </a:p>
          <a:p>
            <a:pPr marL="0" indent="0">
              <a:buNone/>
            </a:pPr>
            <a:r>
              <a:rPr lang="en-US" dirty="0"/>
              <a:t>	Ex. Abortion is wrong because it kills a person.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Normative Ethics – prescriptive in nature. Sets norms, standards or guidelines on how to ‘Act’.</a:t>
            </a:r>
          </a:p>
          <a:p>
            <a:pPr marL="0" indent="0">
              <a:buNone/>
            </a:pPr>
            <a:r>
              <a:rPr lang="en-US" dirty="0"/>
              <a:t>	Ex. Do not abort an innocent baby.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Applied Ethics (Casuists/Professional Ethics) – application of moral theories in a particular situation or group. </a:t>
            </a:r>
          </a:p>
          <a:p>
            <a:pPr marL="0" indent="0">
              <a:buNone/>
            </a:pPr>
            <a:r>
              <a:rPr lang="en-US" dirty="0"/>
              <a:t>	Ex. Doctors should only perform abortion as a last resort for ailing pregnant women. </a:t>
            </a:r>
          </a:p>
        </p:txBody>
      </p:sp>
    </p:spTree>
    <p:extLst>
      <p:ext uri="{BB962C8B-B14F-4D97-AF65-F5344CB8AC3E}">
        <p14:creationId xmlns:p14="http://schemas.microsoft.com/office/powerpoint/2010/main" val="385813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Ethical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8854" indent="-348854">
              <a:buFont typeface="Wingdings" panose="05000000000000000000" pitchFamily="2" charset="2"/>
              <a:buChar char="Ø"/>
            </a:pPr>
            <a:r>
              <a:rPr lang="en-US" sz="3200" dirty="0"/>
              <a:t>Respect for Person and Environment (Both Living/Non-Living Things)</a:t>
            </a:r>
          </a:p>
          <a:p>
            <a:pPr marL="348854" indent="-348854">
              <a:buFont typeface="Wingdings" panose="05000000000000000000" pitchFamily="2" charset="2"/>
              <a:buChar char="Ø"/>
            </a:pPr>
            <a:r>
              <a:rPr lang="en-US" sz="3200" dirty="0"/>
              <a:t>Truthfulness and Confidentiality </a:t>
            </a:r>
          </a:p>
          <a:p>
            <a:pPr marL="348854" indent="-348854">
              <a:buFont typeface="Wingdings" panose="05000000000000000000" pitchFamily="2" charset="2"/>
              <a:buChar char="Ø"/>
            </a:pPr>
            <a:r>
              <a:rPr lang="en-US" sz="3200" dirty="0"/>
              <a:t>Autonomy and Informed Consent</a:t>
            </a:r>
          </a:p>
          <a:p>
            <a:pPr marL="348854" indent="-348854">
              <a:buFont typeface="Wingdings" panose="05000000000000000000" pitchFamily="2" charset="2"/>
              <a:buChar char="Ø"/>
            </a:pPr>
            <a:r>
              <a:rPr lang="en-US" sz="3200" dirty="0"/>
              <a:t>Beneficence</a:t>
            </a:r>
          </a:p>
          <a:p>
            <a:pPr marL="348854" indent="-348854">
              <a:buFont typeface="Wingdings" panose="05000000000000000000" pitchFamily="2" charset="2"/>
              <a:buChar char="Ø"/>
            </a:pPr>
            <a:r>
              <a:rPr lang="en-US" sz="3200" dirty="0"/>
              <a:t>Non-Maleficence</a:t>
            </a:r>
          </a:p>
          <a:p>
            <a:pPr marL="348854" indent="-348854">
              <a:buFont typeface="Wingdings" panose="05000000000000000000" pitchFamily="2" charset="2"/>
              <a:buChar char="Ø"/>
            </a:pPr>
            <a:r>
              <a:rPr lang="en-US" sz="3200" dirty="0"/>
              <a:t>Justice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931883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Moral vs. Non-Moral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Moral </a:t>
            </a:r>
            <a:r>
              <a:rPr lang="en-US" dirty="0"/>
              <a:t>concerned with the principles of right and wrong behavior and the goodness or badness of human character;</a:t>
            </a:r>
          </a:p>
          <a:p>
            <a:r>
              <a:rPr lang="en-US" b="1" dirty="0"/>
              <a:t>Immoral</a:t>
            </a:r>
            <a:r>
              <a:rPr lang="en-US" dirty="0"/>
              <a:t> describes people who can </a:t>
            </a:r>
            <a:r>
              <a:rPr lang="en-US" b="1" dirty="0"/>
              <a:t>differentiate between</a:t>
            </a:r>
            <a:r>
              <a:rPr lang="en-US" dirty="0"/>
              <a:t> right and wrong but intentionally do wrong anyway;</a:t>
            </a:r>
          </a:p>
          <a:p>
            <a:r>
              <a:rPr lang="en-US" b="1" dirty="0"/>
              <a:t>Non-moral</a:t>
            </a:r>
            <a:r>
              <a:rPr lang="en-US" dirty="0"/>
              <a:t> is used when </a:t>
            </a:r>
            <a:r>
              <a:rPr lang="en-US" b="1" dirty="0"/>
              <a:t>morality</a:t>
            </a:r>
            <a:r>
              <a:rPr lang="en-US" dirty="0"/>
              <a:t> is clearly </a:t>
            </a:r>
            <a:r>
              <a:rPr lang="en-US" b="1" dirty="0"/>
              <a:t>not</a:t>
            </a:r>
            <a:r>
              <a:rPr lang="en-US" dirty="0"/>
              <a:t> an issue, and;</a:t>
            </a:r>
          </a:p>
          <a:p>
            <a:r>
              <a:rPr lang="en-US" b="1" dirty="0"/>
              <a:t>Amoral</a:t>
            </a:r>
            <a:r>
              <a:rPr lang="en-US" dirty="0"/>
              <a:t> implies acknowledgment </a:t>
            </a:r>
            <a:r>
              <a:rPr lang="en-US" b="1" dirty="0"/>
              <a:t>of</a:t>
            </a:r>
            <a:r>
              <a:rPr lang="en-US" dirty="0"/>
              <a:t> what is right and what is wrong but an unconcern </a:t>
            </a:r>
            <a:r>
              <a:rPr lang="en-US" b="1" dirty="0"/>
              <a:t>for morality</a:t>
            </a:r>
            <a:r>
              <a:rPr lang="en-US" dirty="0"/>
              <a:t> when carrying out an </a:t>
            </a:r>
            <a:r>
              <a:rPr lang="en-US" b="1" dirty="0"/>
              <a:t>act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768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Moral Standards…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Moral standards deal with matters that can seriously </a:t>
            </a:r>
            <a:r>
              <a:rPr lang="en-US" sz="3200" b="1" dirty="0"/>
              <a:t>injure or benefit </a:t>
            </a:r>
            <a:r>
              <a:rPr lang="en-US" sz="3200" dirty="0"/>
              <a:t>human beings.</a:t>
            </a:r>
          </a:p>
          <a:p>
            <a:r>
              <a:rPr lang="en-US" sz="3200" dirty="0"/>
              <a:t>The </a:t>
            </a:r>
            <a:r>
              <a:rPr lang="en-US" sz="3200" b="1" dirty="0"/>
              <a:t>validity </a:t>
            </a:r>
            <a:r>
              <a:rPr lang="en-US" sz="3200" dirty="0"/>
              <a:t>of moral standards rests on the adequacy of reasons to support and justify them, not on the decision of majority or authoritative bodies.</a:t>
            </a:r>
          </a:p>
          <a:p>
            <a:r>
              <a:rPr lang="en-US" sz="3200" dirty="0"/>
              <a:t>Moral standards are to be preferred to other values, including self-interest.</a:t>
            </a:r>
          </a:p>
        </p:txBody>
      </p:sp>
    </p:spTree>
    <p:extLst>
      <p:ext uri="{BB962C8B-B14F-4D97-AF65-F5344CB8AC3E}">
        <p14:creationId xmlns:p14="http://schemas.microsoft.com/office/powerpoint/2010/main" val="2601215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Moral Standards…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Moral standards are based on </a:t>
            </a:r>
            <a:r>
              <a:rPr lang="en-US" sz="3200" b="1" dirty="0"/>
              <a:t>impartial considerations.</a:t>
            </a:r>
          </a:p>
          <a:p>
            <a:r>
              <a:rPr lang="en-US" sz="3200" dirty="0"/>
              <a:t>Moral standards are expressed in </a:t>
            </a:r>
            <a:r>
              <a:rPr lang="en-US" sz="3200" b="1" dirty="0"/>
              <a:t>universalized </a:t>
            </a:r>
            <a:r>
              <a:rPr lang="en-US" sz="3200" dirty="0"/>
              <a:t>view point from an ideal observer.</a:t>
            </a:r>
          </a:p>
          <a:p>
            <a:r>
              <a:rPr lang="en-US" sz="3200" dirty="0"/>
              <a:t>Moral standards are associated with </a:t>
            </a:r>
            <a:r>
              <a:rPr lang="en-US" sz="3200" b="1" dirty="0"/>
              <a:t>special emotions </a:t>
            </a:r>
            <a:r>
              <a:rPr lang="en-US" sz="3200" dirty="0"/>
              <a:t>such as ‘guilt’, ‘shame’, ‘remorse’, ‘praise’, ‘pity’, ‘indignation’.</a:t>
            </a:r>
          </a:p>
        </p:txBody>
      </p:sp>
    </p:spTree>
    <p:extLst>
      <p:ext uri="{BB962C8B-B14F-4D97-AF65-F5344CB8AC3E}">
        <p14:creationId xmlns:p14="http://schemas.microsoft.com/office/powerpoint/2010/main" val="3868145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6683765" cy="96066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THREE LEVELS OF MORAL DILEMMAS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8323659" cy="3634659"/>
          </a:xfrm>
        </p:spPr>
        <p:txBody>
          <a:bodyPr>
            <a:noAutofit/>
          </a:bodyPr>
          <a:lstStyle/>
          <a:p>
            <a:pPr marL="385763" indent="-385763">
              <a:buAutoNum type="arabicPeriod"/>
            </a:pPr>
            <a:r>
              <a:rPr lang="en-US" sz="2800" b="1" dirty="0"/>
              <a:t>Individual Dilemmas </a:t>
            </a:r>
            <a:r>
              <a:rPr lang="en-US" sz="2800" dirty="0"/>
              <a:t>–</a:t>
            </a:r>
            <a:r>
              <a:rPr lang="en-US" sz="2800" b="1" dirty="0"/>
              <a:t> personal in nature</a:t>
            </a:r>
          </a:p>
          <a:p>
            <a:pPr marL="0" indent="0">
              <a:buNone/>
            </a:pPr>
            <a:r>
              <a:rPr lang="en-US" sz="2800" b="1" dirty="0"/>
              <a:t>	Examples: </a:t>
            </a:r>
          </a:p>
          <a:p>
            <a:pPr marL="0" indent="0">
              <a:buNone/>
            </a:pPr>
            <a:r>
              <a:rPr lang="en-US" sz="2800" b="1" dirty="0"/>
              <a:t>	</a:t>
            </a:r>
            <a:r>
              <a:rPr lang="en-US" sz="2800" dirty="0"/>
              <a:t>a. deciding which parent to live with</a:t>
            </a:r>
          </a:p>
          <a:p>
            <a:pPr marL="0" indent="0">
              <a:buNone/>
            </a:pPr>
            <a:r>
              <a:rPr lang="en-US" sz="2800" dirty="0"/>
              <a:t>	b. deciding whether to let their family starve 		or steal bread from someone else</a:t>
            </a:r>
          </a:p>
        </p:txBody>
      </p:sp>
    </p:spTree>
    <p:extLst>
      <p:ext uri="{BB962C8B-B14F-4D97-AF65-F5344CB8AC3E}">
        <p14:creationId xmlns:p14="http://schemas.microsoft.com/office/powerpoint/2010/main" val="3051545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6683765" cy="96066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THREE LEVELS OF MORAL DILEMMAS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399859" cy="3939459"/>
          </a:xfrm>
        </p:spPr>
        <p:txBody>
          <a:bodyPr>
            <a:noAutofit/>
          </a:bodyPr>
          <a:lstStyle/>
          <a:p>
            <a:pPr marL="385763" indent="-385763">
              <a:buFont typeface="+mj-lt"/>
              <a:buAutoNum type="arabicPeriod" startAt="2"/>
            </a:pPr>
            <a:r>
              <a:rPr lang="en-US" sz="2800" b="1" dirty="0"/>
              <a:t>Organizational Dilemmas </a:t>
            </a:r>
            <a:r>
              <a:rPr lang="en-US" sz="2800" dirty="0"/>
              <a:t>– a dilemma that exist within an organization or a particular sector. It refers to a problem of reconciling inconsistencies between individual needs and aspirations on the one hand, and the collective purpose of the organization on the other.</a:t>
            </a:r>
          </a:p>
          <a:p>
            <a:pPr marL="0" indent="0">
              <a:buNone/>
            </a:pPr>
            <a:r>
              <a:rPr lang="en-US" sz="2800" b="1" dirty="0"/>
              <a:t>Example: </a:t>
            </a:r>
          </a:p>
          <a:p>
            <a:pPr marL="0" indent="0">
              <a:buNone/>
            </a:pPr>
            <a:r>
              <a:rPr lang="en-US" sz="2800" b="1" dirty="0"/>
              <a:t>		</a:t>
            </a:r>
            <a:r>
              <a:rPr lang="en-US" sz="2800" dirty="0"/>
              <a:t>a. A manager deciding which employee to promote</a:t>
            </a:r>
          </a:p>
        </p:txBody>
      </p:sp>
    </p:spTree>
    <p:extLst>
      <p:ext uri="{BB962C8B-B14F-4D97-AF65-F5344CB8AC3E}">
        <p14:creationId xmlns:p14="http://schemas.microsoft.com/office/powerpoint/2010/main" val="382000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6683765" cy="96066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THREE LEVELS OF MORAL DILEMMAS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476059" cy="4015659"/>
          </a:xfrm>
        </p:spPr>
        <p:txBody>
          <a:bodyPr>
            <a:noAutofit/>
          </a:bodyPr>
          <a:lstStyle/>
          <a:p>
            <a:pPr marL="385763" indent="-385763">
              <a:buFont typeface="+mj-lt"/>
              <a:buAutoNum type="arabicPeriod" startAt="3"/>
            </a:pPr>
            <a:r>
              <a:rPr lang="en-US" sz="2800" b="1" dirty="0"/>
              <a:t>Systematic/Structural Dilemma </a:t>
            </a:r>
            <a:r>
              <a:rPr lang="en-US" sz="2800" dirty="0"/>
              <a:t>– This dilemma refers to ongoing search for satisfactory system. Managers rarely face well defined problems with clear cut solutions, instead, they confront enduring dilemmas like trade offs, without easy answers.</a:t>
            </a:r>
          </a:p>
          <a:p>
            <a:pPr marL="0" indent="0">
              <a:buNone/>
            </a:pPr>
            <a:r>
              <a:rPr lang="en-US" sz="2800" b="1" dirty="0"/>
              <a:t>Example: </a:t>
            </a:r>
          </a:p>
          <a:p>
            <a:pPr marL="0" indent="0">
              <a:buNone/>
            </a:pPr>
            <a:r>
              <a:rPr lang="en-US" sz="2800" b="1" dirty="0"/>
              <a:t>		</a:t>
            </a:r>
            <a:r>
              <a:rPr lang="en-US" sz="2800" dirty="0"/>
              <a:t>a. The President deciding which </a:t>
            </a:r>
          </a:p>
          <a:p>
            <a:pPr marL="0" indent="0">
              <a:buNone/>
            </a:pPr>
            <a:r>
              <a:rPr lang="en-US" sz="2800" dirty="0"/>
              <a:t>			economic system to follow.</a:t>
            </a:r>
          </a:p>
        </p:txBody>
      </p:sp>
    </p:spTree>
    <p:extLst>
      <p:ext uri="{BB962C8B-B14F-4D97-AF65-F5344CB8AC3E}">
        <p14:creationId xmlns:p14="http://schemas.microsoft.com/office/powerpoint/2010/main" val="6917050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4A92382FF25B44B7DF65B12BEADE66" ma:contentTypeVersion="7" ma:contentTypeDescription="Create a new document." ma:contentTypeScope="" ma:versionID="c987230984f3fdaa154004c97f060e29">
  <xsd:schema xmlns:xsd="http://www.w3.org/2001/XMLSchema" xmlns:xs="http://www.w3.org/2001/XMLSchema" xmlns:p="http://schemas.microsoft.com/office/2006/metadata/properties" xmlns:ns2="866e2459-4d4f-4228-b004-32f282435ffc" targetNamespace="http://schemas.microsoft.com/office/2006/metadata/properties" ma:root="true" ma:fieldsID="3148b43669c1e93d2374ea8354b0f74e" ns2:_="">
    <xsd:import namespace="866e2459-4d4f-4228-b004-32f282435f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6e2459-4d4f-4228-b004-32f282435f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017D73-15AA-4FC9-BED3-25C86ECA276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916F325-B337-4442-B8DE-1E74817467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597821-C831-49DD-A8CB-8286907EE2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6e2459-4d4f-4228-b004-32f282435f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1025</TotalTime>
  <Words>670</Words>
  <Application>Microsoft Office PowerPoint</Application>
  <PresentationFormat>On-screen Show (4:3)</PresentationFormat>
  <Paragraphs>83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Civic</vt:lpstr>
      <vt:lpstr>Ethics and Morality</vt:lpstr>
      <vt:lpstr>Objectives</vt:lpstr>
      <vt:lpstr>Ethics Defined</vt:lpstr>
      <vt:lpstr>Ethics Defined</vt:lpstr>
      <vt:lpstr>Moral Defined</vt:lpstr>
      <vt:lpstr>Moral Defined</vt:lpstr>
      <vt:lpstr>To summarize:</vt:lpstr>
      <vt:lpstr>Thus, the study of ethics…</vt:lpstr>
      <vt:lpstr>Types of Ethics</vt:lpstr>
      <vt:lpstr>Basic Ethical Principles</vt:lpstr>
      <vt:lpstr>Moral vs. Non-Moral Standards</vt:lpstr>
      <vt:lpstr>The Moral Standards…</vt:lpstr>
      <vt:lpstr>The Moral Standards…</vt:lpstr>
      <vt:lpstr>THREE LEVELS OF MORAL DILEMMAS</vt:lpstr>
      <vt:lpstr>THREE LEVELS OF MORAL DILEMMAS</vt:lpstr>
      <vt:lpstr>THREE LEVELS OF MORAL DILEMMAS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Orientation</dc:title>
  <dc:creator>Aloha</dc:creator>
  <cp:lastModifiedBy>GlennE</cp:lastModifiedBy>
  <cp:revision>59</cp:revision>
  <dcterms:created xsi:type="dcterms:W3CDTF">2020-09-15T03:28:46Z</dcterms:created>
  <dcterms:modified xsi:type="dcterms:W3CDTF">2026-08-29T08:00:55Z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0x010100884A92382FF25B44B7DF65B12BEADE66</vt:lpwstr>
  </property>
</Properties>
</file>